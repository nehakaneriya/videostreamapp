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13"/>
    <p:sldId id="281" r:id="rId14"/>
    <p:sldId id="282" r:id="rId15"/>
    <p:sldId id="268" r:id="rId16"/>
    <p:sldId id="283" r:id="rId17"/>
    <p:sldId id="284" r:id="rId18"/>
    <p:sldId id="285" r:id="rId19"/>
    <p:sldId id="286" r:id="rId20"/>
    <p:sldId id="269" r:id="rId21"/>
    <p:sldId id="270" r:id="rId22"/>
    <p:sldId id="272" r:id="rId23"/>
    <p:sldId id="288" r:id="rId24"/>
    <p:sldId id="289" r:id="rId25"/>
    <p:sldId id="287" r:id="rId26"/>
    <p:sldId id="290" r:id="rId27"/>
    <p:sldId id="291" r:id="rId28"/>
    <p:sldId id="273" r:id="rId29"/>
    <p:sldId id="274" r:id="rId30"/>
    <p:sldId id="275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2" r:id="rId41"/>
    <p:sldId id="301" r:id="rId42"/>
    <p:sldId id="276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277" r:id="rId56"/>
    <p:sldId id="323" r:id="rId57"/>
    <p:sldId id="326" r:id="rId58"/>
    <p:sldId id="325" r:id="rId59"/>
    <p:sldId id="328" r:id="rId60"/>
    <p:sldId id="327" r:id="rId61"/>
    <p:sldId id="329" r:id="rId62"/>
    <p:sldId id="324" r:id="rId63"/>
    <p:sldId id="330" r:id="rId64"/>
    <p:sldId id="331" r:id="rId65"/>
    <p:sldId id="332" r:id="rId66"/>
    <p:sldId id="333" r:id="rId67"/>
    <p:sldId id="334" r:id="rId68"/>
    <p:sldId id="336" r:id="rId69"/>
    <p:sldId id="278" r:id="rId70"/>
    <p:sldId id="335" r:id="rId71"/>
    <p:sldId id="279" r:id="rId72"/>
  </p:sldIdLst>
  <p:sldSz cx="12192000" cy="6858000"/>
  <p:notesSz cx="6797675" cy="98726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00"/>
    <a:srgbClr val="FCF2F2"/>
    <a:srgbClr val="4D4D4D"/>
    <a:srgbClr val="EBA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58"/>
      </p:cViewPr>
      <p:guideLst>
        <p:guide orient="horz" pos="2160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6068f6ec_0_0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g3f26068f6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6068f6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" name="Google Shape;104;g3f26068f6ec_0_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26068f6ec_0_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6068f6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1" name="Google Shape;111;g3f26068f6ec_0_1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f26068f6ec_0_1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6068f6e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f26068f6ec_0_1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26068f6ec_0_1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6068f6e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5" name="Google Shape;125;g3f26068f6ec_0_2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g3f26068f6ec_0_2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6068f6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2" name="Google Shape;132;g3f26068f6ec_0_2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26068f6ec_0_2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6068f6e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9" name="Google Shape;139;g3f26068f6ec_0_3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26068f6ec_0_3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26068f6e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f26068f6ec_0_4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26068f6ec_0_4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6068f6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3" name="Google Shape;153;g3f26068f6ec_0_4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f26068f6ec_0_4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ACD792E-6D7D-03EA-6247-C5118F66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>
            <a:extLst>
              <a:ext uri="{FF2B5EF4-FFF2-40B4-BE49-F238E27FC236}">
                <a16:creationId xmlns:a16="http://schemas.microsoft.com/office/drawing/2014/main" id="{3AE9B5B7-53E1-D52A-1024-B22DDFC55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>
            <a:extLst>
              <a:ext uri="{FF2B5EF4-FFF2-40B4-BE49-F238E27FC236}">
                <a16:creationId xmlns:a16="http://schemas.microsoft.com/office/drawing/2014/main" id="{536102BB-2C7D-94C7-44E0-E860FF17D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>
            <a:extLst>
              <a:ext uri="{FF2B5EF4-FFF2-40B4-BE49-F238E27FC236}">
                <a16:creationId xmlns:a16="http://schemas.microsoft.com/office/drawing/2014/main" id="{28352773-1DB0-A29D-66AA-38200D13CF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4590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641A09C-CB91-0D9B-4EF1-67290550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>
            <a:extLst>
              <a:ext uri="{FF2B5EF4-FFF2-40B4-BE49-F238E27FC236}">
                <a16:creationId xmlns:a16="http://schemas.microsoft.com/office/drawing/2014/main" id="{278439F2-44C2-5FA9-F5A4-51F10CCED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>
            <a:extLst>
              <a:ext uri="{FF2B5EF4-FFF2-40B4-BE49-F238E27FC236}">
                <a16:creationId xmlns:a16="http://schemas.microsoft.com/office/drawing/2014/main" id="{394BD770-2BF9-8012-11A5-206248A0C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>
            <a:extLst>
              <a:ext uri="{FF2B5EF4-FFF2-40B4-BE49-F238E27FC236}">
                <a16:creationId xmlns:a16="http://schemas.microsoft.com/office/drawing/2014/main" id="{826A7A5A-3D14-CBB9-DFA0-FD4C77973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621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1A6E2ED3-DA0A-240A-1C74-2023AB78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>
            <a:extLst>
              <a:ext uri="{FF2B5EF4-FFF2-40B4-BE49-F238E27FC236}">
                <a16:creationId xmlns:a16="http://schemas.microsoft.com/office/drawing/2014/main" id="{D4FE7ABB-7A92-3572-4D7D-2962772F5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>
            <a:extLst>
              <a:ext uri="{FF2B5EF4-FFF2-40B4-BE49-F238E27FC236}">
                <a16:creationId xmlns:a16="http://schemas.microsoft.com/office/drawing/2014/main" id="{D20243EB-3871-40B8-AE9C-742CE812A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>
            <a:extLst>
              <a:ext uri="{FF2B5EF4-FFF2-40B4-BE49-F238E27FC236}">
                <a16:creationId xmlns:a16="http://schemas.microsoft.com/office/drawing/2014/main" id="{E5D9D177-60FC-FF58-EB35-7042A74D87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4923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7B552B3-A499-19D4-664D-F8D586A7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>
            <a:extLst>
              <a:ext uri="{FF2B5EF4-FFF2-40B4-BE49-F238E27FC236}">
                <a16:creationId xmlns:a16="http://schemas.microsoft.com/office/drawing/2014/main" id="{B8E3D678-A95F-84F4-694A-5887FE381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>
            <a:extLst>
              <a:ext uri="{FF2B5EF4-FFF2-40B4-BE49-F238E27FC236}">
                <a16:creationId xmlns:a16="http://schemas.microsoft.com/office/drawing/2014/main" id="{8D7CF9DC-A4C7-BA26-EFCC-E9D98726B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>
            <a:extLst>
              <a:ext uri="{FF2B5EF4-FFF2-40B4-BE49-F238E27FC236}">
                <a16:creationId xmlns:a16="http://schemas.microsoft.com/office/drawing/2014/main" id="{F9E04EB1-EE16-B463-4D71-1AE55DD57B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2040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CCA5BE6-D095-C9A2-AD8F-1FBD3BC6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>
            <a:extLst>
              <a:ext uri="{FF2B5EF4-FFF2-40B4-BE49-F238E27FC236}">
                <a16:creationId xmlns:a16="http://schemas.microsoft.com/office/drawing/2014/main" id="{6D294B04-CE43-CC84-AECA-5B9C80AC1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>
            <a:extLst>
              <a:ext uri="{FF2B5EF4-FFF2-40B4-BE49-F238E27FC236}">
                <a16:creationId xmlns:a16="http://schemas.microsoft.com/office/drawing/2014/main" id="{FE3A0CBB-20D3-F1CD-4BAB-C5A5008FF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>
            <a:extLst>
              <a:ext uri="{FF2B5EF4-FFF2-40B4-BE49-F238E27FC236}">
                <a16:creationId xmlns:a16="http://schemas.microsoft.com/office/drawing/2014/main" id="{81E219F9-EFD1-0DFF-ED2E-B7C18B20A1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7656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57AAC5AD-350C-0D58-26F4-E2E6596E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>
            <a:extLst>
              <a:ext uri="{FF2B5EF4-FFF2-40B4-BE49-F238E27FC236}">
                <a16:creationId xmlns:a16="http://schemas.microsoft.com/office/drawing/2014/main" id="{2594ECA0-F27E-AC6A-B34C-29E623F96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>
            <a:extLst>
              <a:ext uri="{FF2B5EF4-FFF2-40B4-BE49-F238E27FC236}">
                <a16:creationId xmlns:a16="http://schemas.microsoft.com/office/drawing/2014/main" id="{2C6B8DB3-9181-F768-85AA-6C63E5FE9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>
            <a:extLst>
              <a:ext uri="{FF2B5EF4-FFF2-40B4-BE49-F238E27FC236}">
                <a16:creationId xmlns:a16="http://schemas.microsoft.com/office/drawing/2014/main" id="{531EA4B2-8E62-7FBD-16E7-A54721A35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5539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1A30D5C2-D878-95B0-04C7-5436BEF5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>
            <a:extLst>
              <a:ext uri="{FF2B5EF4-FFF2-40B4-BE49-F238E27FC236}">
                <a16:creationId xmlns:a16="http://schemas.microsoft.com/office/drawing/2014/main" id="{427F776F-97EC-D2B9-254F-4876F43E6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>
            <a:extLst>
              <a:ext uri="{FF2B5EF4-FFF2-40B4-BE49-F238E27FC236}">
                <a16:creationId xmlns:a16="http://schemas.microsoft.com/office/drawing/2014/main" id="{977A8A11-524E-3955-AA74-9879CD87E3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>
            <a:extLst>
              <a:ext uri="{FF2B5EF4-FFF2-40B4-BE49-F238E27FC236}">
                <a16:creationId xmlns:a16="http://schemas.microsoft.com/office/drawing/2014/main" id="{D004A079-A785-F7CD-E25D-DEAE72F578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42250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6068f6e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1" name="Google Shape;181;g3f26068f6ec_0_7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26068f6ec_0_7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6068f6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8" name="Google Shape;188;g3f26068f6ec_0_7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f26068f6ec_0_7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9DD5EC1-BFFD-2509-A94E-16C3540A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>
            <a:extLst>
              <a:ext uri="{FF2B5EF4-FFF2-40B4-BE49-F238E27FC236}">
                <a16:creationId xmlns:a16="http://schemas.microsoft.com/office/drawing/2014/main" id="{AE0FB8A7-E013-B01C-1FC3-B3D5B125A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>
            <a:extLst>
              <a:ext uri="{FF2B5EF4-FFF2-40B4-BE49-F238E27FC236}">
                <a16:creationId xmlns:a16="http://schemas.microsoft.com/office/drawing/2014/main" id="{C755C839-B93C-5F65-33B7-6EA4C6D40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>
            <a:extLst>
              <a:ext uri="{FF2B5EF4-FFF2-40B4-BE49-F238E27FC236}">
                <a16:creationId xmlns:a16="http://schemas.microsoft.com/office/drawing/2014/main" id="{8ACA031C-7F07-4375-63E4-953D801D8A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6912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FF77C44F-F753-63E2-3359-476885CF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>
            <a:extLst>
              <a:ext uri="{FF2B5EF4-FFF2-40B4-BE49-F238E27FC236}">
                <a16:creationId xmlns:a16="http://schemas.microsoft.com/office/drawing/2014/main" id="{89425AAE-D567-5909-F7F3-486F9103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>
            <a:extLst>
              <a:ext uri="{FF2B5EF4-FFF2-40B4-BE49-F238E27FC236}">
                <a16:creationId xmlns:a16="http://schemas.microsoft.com/office/drawing/2014/main" id="{DEF213AF-1340-7E20-074A-91A30515C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>
            <a:extLst>
              <a:ext uri="{FF2B5EF4-FFF2-40B4-BE49-F238E27FC236}">
                <a16:creationId xmlns:a16="http://schemas.microsoft.com/office/drawing/2014/main" id="{402CEC0A-F309-1B69-B57B-1C02A41314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52219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1FE44A91-E8D9-BC81-2359-1E59BF95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>
            <a:extLst>
              <a:ext uri="{FF2B5EF4-FFF2-40B4-BE49-F238E27FC236}">
                <a16:creationId xmlns:a16="http://schemas.microsoft.com/office/drawing/2014/main" id="{E10BAD50-2F52-E689-95BB-01A2F0807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>
            <a:extLst>
              <a:ext uri="{FF2B5EF4-FFF2-40B4-BE49-F238E27FC236}">
                <a16:creationId xmlns:a16="http://schemas.microsoft.com/office/drawing/2014/main" id="{A2EA81AD-7F25-A403-30AB-74D7D42C9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>
            <a:extLst>
              <a:ext uri="{FF2B5EF4-FFF2-40B4-BE49-F238E27FC236}">
                <a16:creationId xmlns:a16="http://schemas.microsoft.com/office/drawing/2014/main" id="{589F62FC-4416-20B9-3E7F-076E3CCDB3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58137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53A0EED-8D16-D708-ABC6-87406E3E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>
            <a:extLst>
              <a:ext uri="{FF2B5EF4-FFF2-40B4-BE49-F238E27FC236}">
                <a16:creationId xmlns:a16="http://schemas.microsoft.com/office/drawing/2014/main" id="{27741CB6-6AAB-D8D9-B729-ADEE4091D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>
            <a:extLst>
              <a:ext uri="{FF2B5EF4-FFF2-40B4-BE49-F238E27FC236}">
                <a16:creationId xmlns:a16="http://schemas.microsoft.com/office/drawing/2014/main" id="{1A158320-C474-6F1C-A498-2681D94D1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>
            <a:extLst>
              <a:ext uri="{FF2B5EF4-FFF2-40B4-BE49-F238E27FC236}">
                <a16:creationId xmlns:a16="http://schemas.microsoft.com/office/drawing/2014/main" id="{09AC605E-FE32-D71A-CEF4-0A3512BEAC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9916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5EBA318-85B4-9B8D-580D-E32BDB91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>
            <a:extLst>
              <a:ext uri="{FF2B5EF4-FFF2-40B4-BE49-F238E27FC236}">
                <a16:creationId xmlns:a16="http://schemas.microsoft.com/office/drawing/2014/main" id="{3D28657F-F89B-FAD9-C504-2EFD4884B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>
            <a:extLst>
              <a:ext uri="{FF2B5EF4-FFF2-40B4-BE49-F238E27FC236}">
                <a16:creationId xmlns:a16="http://schemas.microsoft.com/office/drawing/2014/main" id="{88CBBFE9-9FD4-F2C2-B545-788245BBD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>
            <a:extLst>
              <a:ext uri="{FF2B5EF4-FFF2-40B4-BE49-F238E27FC236}">
                <a16:creationId xmlns:a16="http://schemas.microsoft.com/office/drawing/2014/main" id="{49C53F5F-D7A4-19A6-9CF0-4C615DA88F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8629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6068f6e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9" name="Google Shape;209;g3f26068f6ec_0_9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26068f6ec_0_9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6068f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6" name="Google Shape;216;g3f26068f6ec_0_10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f26068f6ec_0_10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E7F7249C-ED71-0EDF-EF59-4CF87DEE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4681AF31-A3BD-DC31-7BA2-D1328D2C2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06E763AC-D237-BF22-865A-75456673E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B8735DA2-9A46-E04F-503B-398C9B90E3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26553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8B8D1468-41EC-EDCA-1C13-ED3F1B3C7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26B4B9B6-F752-266D-9A6D-28142930D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60FE21EA-62FC-B9D8-DC29-F28021209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ADF76EF3-A8FF-283F-E41D-198D9467D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3276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4630337E-5E25-824F-E48C-BC2C9B7F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C838AA87-5DE7-0820-F43F-AB32A6C9E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B2DCD7D5-214E-B61C-33AC-B22B824BF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4754690F-D531-2BB4-EB50-64D28E550F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6439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A71B896F-3800-6C9C-654D-6664B42E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3ADE1DF2-61C5-D935-74CC-40C742F41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3BBE9CC1-4A5B-8EA8-40CB-6B76E654F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EFABD529-DBC1-93C0-B76B-C71DB6A442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52509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ADDA0292-4DE3-758E-A54E-F10B5046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B4BCCB8C-E6EC-BF0A-68EA-0D68A0C28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7000AD3A-7043-F799-496A-CAD3C8911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641B35D2-3B9C-F0FE-0B5B-74E8901515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7316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2494A83E-47DD-93C0-CB9B-7EE41980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7B779FBD-9E5B-54E6-0F39-3AE01402A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69A09220-F7ED-A329-497D-DFACEA7A7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9AAD0894-5CFD-EC6D-DBFE-B65E439CCF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2700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C379FAFB-4A43-8481-4D63-E0A88714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13D62A28-DC33-4016-CE7B-85BB572CC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FCFD5209-568E-2DCC-04DA-D27614EDE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1387FE3F-A0B8-DC3F-B84A-09A476C173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830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4468B837-B515-56B0-1AF5-B3727B0A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AD0B3A68-4B82-A3D3-3AD8-649277186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A5CB7340-7A5A-5C8E-3893-E911236C2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AEA3A34E-7D75-0107-0B98-72540890A3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50658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49E9F972-96A9-D8AB-6108-BA32396F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1C636289-1539-B73C-0DC9-694A20058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AAE8D9F9-E777-9D1F-81BA-57570DB51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43A4A534-DACA-DA4D-6F9B-CF2DDA3A93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9029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824A7451-8E4E-6AB5-6247-D4113A7C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8DAB1F48-9E83-E7B2-7678-61D5C01C2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42B95B24-9365-0ABD-A40B-88A0508B5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59D48A87-2F14-E561-56FC-35DDA3699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56259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FE7F8212-5261-761D-691E-4801F344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>
            <a:extLst>
              <a:ext uri="{FF2B5EF4-FFF2-40B4-BE49-F238E27FC236}">
                <a16:creationId xmlns:a16="http://schemas.microsoft.com/office/drawing/2014/main" id="{A8D20B42-A701-F6F8-13B0-C96193296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>
            <a:extLst>
              <a:ext uri="{FF2B5EF4-FFF2-40B4-BE49-F238E27FC236}">
                <a16:creationId xmlns:a16="http://schemas.microsoft.com/office/drawing/2014/main" id="{8823C77B-107D-A3E7-B3ED-1297434C1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>
            <a:extLst>
              <a:ext uri="{FF2B5EF4-FFF2-40B4-BE49-F238E27FC236}">
                <a16:creationId xmlns:a16="http://schemas.microsoft.com/office/drawing/2014/main" id="{5E79E21B-0B30-F09D-9385-665E8ADFF8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10633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84D554A7-A245-5B6E-C51F-41E8DB9F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B583E383-413C-7E22-A59C-4030C5AEA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C7E66CE7-9860-1819-B932-51D74258E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D0774876-6435-96A0-0A28-3772DACC3C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8769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EF2EA46-15E5-8F57-5E5B-EC41F4BD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1DAD5025-C764-8864-070E-82DD06736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E40E92ED-0123-B6DD-005F-7B6EA8868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965B031C-F489-AB33-B0AF-4E5E839793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6298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22588F46-F2EA-3B1E-BEA0-C4801ED5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054B5293-570B-67C0-0FD2-0C94DDDE0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003F4FEB-30F1-F33E-34C2-D29A850F0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64FC0700-46D9-0174-878D-3DAAABFF85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6887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16F15687-043D-D01E-37D0-9B2EC66B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4B096F86-9841-8036-D2E1-8C25E8F47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EA39301F-3DA7-19D4-E55E-30F0E6E92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7D77AD3B-A425-751D-0217-273C4D6E31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59027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84ECF014-670A-80F6-D92C-AC8123ED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12C1B834-3EC0-DBE5-8526-AABD70A53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6B4F01E8-CBE7-DD04-05FA-BEFADA325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CF551685-B88F-C096-E992-60E6794532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78153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C302965-F809-EBDE-61F0-47FF7983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C491507D-0CA1-CE1D-A4B0-740DD0C76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E084EEF9-5BAF-58C1-1C9E-5D8BEDB7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F650D02D-E210-923E-BADF-2C6215D0A5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82828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E61589C-7C17-BBE0-8C67-48089BAF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FC3B0C66-F9A7-DBEB-2556-C548EDD2D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713E669D-D3A4-7992-4A2E-CD7F580C3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7C2E6C30-B0CE-A87B-2F04-4302AF97F3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42741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14CB5C8-1087-3F6A-CCF8-3186944A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E0B27956-FE5B-0163-F315-CE948BA4BD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13C32A88-EB43-F740-CFD4-55E1EC187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5B42EEB5-08D4-1348-E941-DD21FB54FC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06455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3F6B0B12-F11C-5841-40EA-19AB3760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871A9347-07FF-9636-0A63-DEC43CF756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B81EB078-527B-C1D3-2D80-A359C5394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476576AB-A6FA-902D-F9EE-8688CD286E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35923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F308DAC9-CAD0-D4CD-9191-E501952F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BD43C53F-D41F-28B7-26F7-C5701D380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2519DBF0-6B20-7F17-5C6A-82F86C2AF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B8E62382-E76D-F352-72DF-E1B1BC7C69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91674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6FD12A0-0299-82AC-3E4D-4C573ED1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6882E025-463E-64B8-F097-5EA2AF918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C16B480E-E381-DF3C-33E2-B6820C7D7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B9993211-0B8B-AD6E-331E-A90319F8AB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98029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77B33BCD-1E35-0F71-7F38-E621F67F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>
            <a:extLst>
              <a:ext uri="{FF2B5EF4-FFF2-40B4-BE49-F238E27FC236}">
                <a16:creationId xmlns:a16="http://schemas.microsoft.com/office/drawing/2014/main" id="{A7B9275C-CAA4-1669-5AB9-5FF873665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>
            <a:extLst>
              <a:ext uri="{FF2B5EF4-FFF2-40B4-BE49-F238E27FC236}">
                <a16:creationId xmlns:a16="http://schemas.microsoft.com/office/drawing/2014/main" id="{E51A30FF-1C55-2972-6E97-69FE81716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>
            <a:extLst>
              <a:ext uri="{FF2B5EF4-FFF2-40B4-BE49-F238E27FC236}">
                <a16:creationId xmlns:a16="http://schemas.microsoft.com/office/drawing/2014/main" id="{48D7A55C-0086-9DFB-5BBB-060F5B31C6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03992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F846DD8E-1EB6-7E66-520E-7DAC53AD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2B2DAF20-A4A5-0E6D-973E-430865FF0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0D832F85-6DAD-DB55-E4FC-B286EB7A4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F20B1734-6356-959D-BDF4-B3F31DE8BD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670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4D3BD04-A54C-9988-E8B7-FA72B2B7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391DEE0D-375D-3684-16A2-E60547155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BB5BB3CA-40CA-86F7-2A72-96B8BC44B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6368CF18-1D2E-C64A-C457-4E352DBB34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722982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697A18F0-9C01-5371-3918-E7836A3F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AB518C69-0B09-01B4-E320-72DFF3226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7E03782D-DD07-9828-1649-DD8820CE7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3BF42D53-1248-B08D-1DFD-08B376C209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54380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97494578-0629-1078-D3C9-DD230BFB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35B51535-2BBE-6919-9BBF-D9A9729CF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B8C018B0-4E14-1D2D-1473-CAEF25F32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E0BE308E-A839-B9D6-863D-7B2D49B85B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58015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8CF5802D-3BB5-DE40-2444-01472F84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66012AC4-1E8E-5EE0-E328-0B48816F5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31F0836C-A56B-F9AA-BCD6-2AAAF3969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64F38257-0D3E-9A3E-7389-7E388EE725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90043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30DAE121-5A74-47CC-7D96-E6F45AC3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3DB7C8AE-8282-0E96-1453-6949B2B07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FB82C053-709D-2D05-A5CE-6634ABC9B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C6FE2875-DA42-D996-A406-A1E177A86B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870124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A892957-5D69-D4AF-C655-1A51744F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9525F17E-B72F-37DB-92B8-F58FD5D9C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D571BEA6-7E63-75E9-9582-64F1ABDD6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81CFDCC0-EAF7-9AE7-13C3-CCB47EF7C0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5169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8E256E56-D567-6B05-E782-28F81485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6CB01EE2-5CF7-449F-C86E-4A8C109E2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2A3E7EF9-B9B5-C3E1-634F-2D7068154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8380351A-8579-AAE6-6882-B455A52E08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4593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B6513BA-0EAD-2600-0CC4-B0042A01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E062EA4C-0768-C699-6D93-5637DCFB44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F24AD945-F03F-2834-A6A5-83B3E9A08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60BB4B17-5D4B-5027-D70B-65F2124473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485252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25EDD8B5-E573-01A2-433F-1780AAC3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E1F93894-0BCD-A695-A7B8-ACE50A752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4D3B00F1-ED72-8476-A0B9-56A0BF5BF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B33D48C0-D405-E9A5-D548-E3EC19359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64877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0B32FCA2-4045-A7DF-A52A-644E0D05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C530B2F7-4B95-3F5D-AE13-21FBB04D9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2D05B8A3-1AEF-168C-4F4A-1C447C86D4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847E1556-01F0-8F23-83AC-85F8AA894C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418537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ACC88656-7032-BDBE-E40C-E29A21EB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52003665-60E4-E601-CDDF-E575443FC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23E02B20-69D0-8EC4-E05A-51A132E685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6B111EBF-1BBB-ECE6-4E39-A25152238F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844573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D600F63A-53D4-4877-9214-A980168DD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>
            <a:extLst>
              <a:ext uri="{FF2B5EF4-FFF2-40B4-BE49-F238E27FC236}">
                <a16:creationId xmlns:a16="http://schemas.microsoft.com/office/drawing/2014/main" id="{5FB8B564-153C-6C19-ECEA-B7C2D7928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>
            <a:extLst>
              <a:ext uri="{FF2B5EF4-FFF2-40B4-BE49-F238E27FC236}">
                <a16:creationId xmlns:a16="http://schemas.microsoft.com/office/drawing/2014/main" id="{A96C8674-22FB-F754-F6F6-C5624B4A2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>
            <a:extLst>
              <a:ext uri="{FF2B5EF4-FFF2-40B4-BE49-F238E27FC236}">
                <a16:creationId xmlns:a16="http://schemas.microsoft.com/office/drawing/2014/main" id="{4B07BE75-098A-7C1D-ABC8-5B9874E326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48045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6068f6e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4" name="Google Shape;244;g3f26068f6ec_0_12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26068f6ec_0_12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2A0A876-3209-191B-B0B5-63826C64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6068f6ec_0_125:notes">
            <a:extLst>
              <a:ext uri="{FF2B5EF4-FFF2-40B4-BE49-F238E27FC236}">
                <a16:creationId xmlns:a16="http://schemas.microsoft.com/office/drawing/2014/main" id="{FD9746A1-2AAB-051B-FD4B-CDCECC8E49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4" name="Google Shape;244;g3f26068f6ec_0_125:notes">
            <a:extLst>
              <a:ext uri="{FF2B5EF4-FFF2-40B4-BE49-F238E27FC236}">
                <a16:creationId xmlns:a16="http://schemas.microsoft.com/office/drawing/2014/main" id="{3BC7CE4E-D426-DDDC-8611-C4C3EFE27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26068f6ec_0_125:notes">
            <a:extLst>
              <a:ext uri="{FF2B5EF4-FFF2-40B4-BE49-F238E27FC236}">
                <a16:creationId xmlns:a16="http://schemas.microsoft.com/office/drawing/2014/main" id="{F126DFC9-0209-0074-4081-D7B696634B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0330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6068f6ec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1" name="Google Shape;251;g3f26068f6ec_0_13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f26068f6ec_0_13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2"/>
            <a:ext cx="12191996" cy="55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8588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97600" y="18589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609600" y="1876926"/>
            <a:ext cx="5386800" cy="4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93368" y="191135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4766725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609600" y="1913024"/>
            <a:ext cx="40110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7000" y="5414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boot/documentation.html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fmpeg.org/documentation.html" TargetMode="External"/><Relationship Id="rId5" Type="http://schemas.openxmlformats.org/officeDocument/2006/relationships/hyperlink" Target="https://dev.mysql.com/doc/" TargetMode="External"/><Relationship Id="rId4" Type="http://schemas.openxmlformats.org/officeDocument/2006/relationships/hyperlink" Target="https://react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14400" y="1120914"/>
            <a:ext cx="10363200" cy="792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StreamHub – Full-Stack Video Streaming Platform</a:t>
            </a:r>
            <a:endParaRPr lang="en-IN" sz="2000" b="1" dirty="0">
              <a:solidFill>
                <a:srgbClr val="C0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76500" y="1754202"/>
            <a:ext cx="7239000" cy="334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Neha Kaneriya 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No.: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25034211020</a:t>
            </a:r>
          </a:p>
          <a:p>
            <a:pPr lvl="0" algn="ctr">
              <a:spcBef>
                <a:spcPts val="8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Vidhi Kansagara </a:t>
            </a:r>
          </a:p>
          <a:p>
            <a:pPr lvl="0" algn="ctr">
              <a:spcBef>
                <a:spcPts val="6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Enrolment. No.: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25034211021</a:t>
            </a:r>
          </a:p>
          <a:p>
            <a:pPr lvl="0" algn="ctr">
              <a:spcBef>
                <a:spcPts val="600"/>
              </a:spcBef>
            </a:pP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to  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MCA Department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 Patel Institute of Computer Studies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8811" y="5386596"/>
            <a:ext cx="1951589" cy="633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6200" y="488809"/>
            <a:ext cx="113607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dirty="0"/>
              <a:t>1.1 Project Profile</a:t>
            </a:r>
            <a:endParaRPr b="1" dirty="0">
              <a:solidFill>
                <a:srgbClr val="FF0000"/>
              </a:solidFill>
            </a:endParaRP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55087"/>
              </p:ext>
            </p:extLst>
          </p:nvPr>
        </p:nvGraphicFramePr>
        <p:xfrm>
          <a:off x="1510781" y="1432337"/>
          <a:ext cx="9792384" cy="455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127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Profile</a:t>
                      </a:r>
                    </a:p>
                  </a:txBody>
                  <a:tcPr marT="31227" marB="31227" anchor="ctr">
                    <a:solidFill>
                      <a:srgbClr val="B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</a:p>
                  </a:txBody>
                  <a:tcPr marT="31227" marB="31227" anchor="ctr">
                    <a:solidFill>
                      <a:srgbClr val="B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Title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StreamHub – Full-Stack Video Streaming Platform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Type</a:t>
                      </a:r>
                      <a:endParaRPr sz="1500" b="1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Web-Based Full-Stack Application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545240"/>
                  </a:ext>
                </a:extLst>
              </a:tr>
              <a:tr h="505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Objective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develop a customizable, secure, and full-stack video streaming platform with adaptive HLS streaming, user authentication, role-based access, and administrative management.</a:t>
                      </a:r>
                      <a:endParaRPr lang="en-US"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033188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 No.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04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00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Technology Stack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React.js, TypeScript, Vite, Tailwind CSS | Java, Spring Boot, Spring Security, Spring Data JPA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Redis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36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 &amp; Streaming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MySQL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Redis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| HTTP Live Streaming (HLS) – </a:t>
                      </a:r>
                      <a:r>
                        <a:rPr sz="16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Adaptive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Bitrate Streaming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 &amp; API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JWT-Based Authentication with OAuth2 Login Support | Swagger / OpenAPI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Tools &amp; IDE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IntelliJ IDEA, VS Code, Postman, Maven, Git &amp; GitHub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FFmpeg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Operating System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Windows</a:t>
                      </a:r>
                      <a:r>
                        <a:rPr lang="en-GB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11</a:t>
                      </a:r>
                      <a:endParaRPr sz="1500" b="0" dirty="0">
                        <a:solidFill>
                          <a:srgbClr val="191919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Duration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MCA Semester III (2025–2027)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Guide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Dr. Aruna Gu</a:t>
                      </a:r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jar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Coordinator / Principal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Dr.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C. D. Patel | Dr. Nirbhay Chaubey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127">
                <a:tc>
                  <a:txBody>
                    <a:bodyPr/>
                    <a:lstStyle/>
                    <a:p>
                      <a:pPr algn="l"/>
                      <a:r>
                        <a:rPr sz="1500" b="1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Submitted By</a:t>
                      </a:r>
                    </a:p>
                  </a:txBody>
                  <a:tcPr marT="31227" marB="31227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Neha V. </a:t>
                      </a:r>
                      <a:r>
                        <a:rPr lang="en-US"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Kaneriya</a:t>
                      </a:r>
                      <a:r>
                        <a:rPr sz="1500" b="0" dirty="0">
                          <a:solidFill>
                            <a:srgbClr val="19191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Vidhi K. Kansagara</a:t>
                      </a:r>
                    </a:p>
                  </a:txBody>
                  <a:tcPr marT="31227" marB="31227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95B462C-C25E-86B1-C717-BC80D86D3870}"/>
              </a:ext>
            </a:extLst>
          </p:cNvPr>
          <p:cNvSpPr/>
          <p:nvPr/>
        </p:nvSpPr>
        <p:spPr>
          <a:xfrm>
            <a:off x="777240" y="1900238"/>
            <a:ext cx="10637520" cy="742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D7A2-B0F6-669E-F950-D8D9EC280095}"/>
              </a:ext>
            </a:extLst>
          </p:cNvPr>
          <p:cNvSpPr/>
          <p:nvPr/>
        </p:nvSpPr>
        <p:spPr>
          <a:xfrm>
            <a:off x="777240" y="2643188"/>
            <a:ext cx="10637520" cy="2027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41B4-A12D-F0FC-6FAD-4AC4A36D0523}"/>
              </a:ext>
            </a:extLst>
          </p:cNvPr>
          <p:cNvSpPr/>
          <p:nvPr/>
        </p:nvSpPr>
        <p:spPr>
          <a:xfrm>
            <a:off x="777240" y="4670323"/>
            <a:ext cx="10659660" cy="1540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1.2 About Organization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5ABA5-3415-695A-7F87-C3A65D42B080}"/>
              </a:ext>
            </a:extLst>
          </p:cNvPr>
          <p:cNvSpPr txBox="1"/>
          <p:nvPr/>
        </p:nvSpPr>
        <p:spPr>
          <a:xfrm>
            <a:off x="1150349" y="1502648"/>
            <a:ext cx="9891201" cy="422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18800"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College</a:t>
            </a:r>
          </a:p>
          <a:p>
            <a:pPr marL="166950" lvl="8">
              <a:spcBef>
                <a:spcPts val="50"/>
              </a:spcBef>
              <a:spcAft>
                <a:spcPts val="5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Acharya Moti bhai Patel Institute of Computer Studies (AMPICS) is a reputed           	institute specializing in Computer Applications and Information Technology. It 	focuses on quality education, technical skills, innovation, and industry-oriented 	learning.</a:t>
            </a:r>
          </a:p>
          <a:p>
            <a:pPr marL="285750" indent="-118800"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University</a:t>
            </a:r>
          </a:p>
          <a:p>
            <a:pPr marL="166950">
              <a:spcBef>
                <a:spcPts val="50"/>
              </a:spcBef>
              <a:spcAft>
                <a:spcPts val="5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Ganpat University (GUNI) is a multidisciplinary university in Gujarat offering 	programs across various fields. It focuses on education, research, innovation, and 	skill development. AMPICS is a constituent institute of Ganpat University.</a:t>
            </a:r>
          </a:p>
          <a:p>
            <a:pPr marL="285750" indent="-118800">
              <a:spcBef>
                <a:spcPts val="50"/>
              </a:spcBef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Program</a:t>
            </a:r>
          </a:p>
          <a:p>
            <a:pPr marL="166950">
              <a:spcBef>
                <a:spcPts val="50"/>
              </a:spcBef>
              <a:spcAft>
                <a:spcPts val="5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Master of Computer Applications (MCA) is a postgraduate program focused on 	software development, programming, database management, web technologies, 	and modern computing practices.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2.1 Problem Statement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DC38C5-559D-A772-44A0-ABA0AC25A4D1}"/>
              </a:ext>
            </a:extLst>
          </p:cNvPr>
          <p:cNvSpPr txBox="1"/>
          <p:nvPr/>
        </p:nvSpPr>
        <p:spPr>
          <a:xfrm>
            <a:off x="1130710" y="2067875"/>
            <a:ext cx="1043202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video storage and direct playback can cause slow loading, buffering, and poor streaming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role-based access control, separating user and administrator responsibilities becomes difficult.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hosting solutions may lack secure authentication and proper user management.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video uploads, users, feedback, and administrative activities can become complex and unorganized.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85075B-5A56-9CD3-F3B5-1A76E15578EC}"/>
              </a:ext>
            </a:extLst>
          </p:cNvPr>
          <p:cNvSpPr/>
          <p:nvPr/>
        </p:nvSpPr>
        <p:spPr>
          <a:xfrm>
            <a:off x="1877960" y="4499310"/>
            <a:ext cx="8937523" cy="1071716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management can become complex and unorganized; StreamHub improves this through centralized management of users, videos, and feedback.</a:t>
            </a: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 Existing System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4ACC8B-3F62-6E60-0188-1A3A6321B57D}"/>
              </a:ext>
            </a:extLst>
          </p:cNvPr>
          <p:cNvSpPr txBox="1"/>
          <p:nvPr/>
        </p:nvSpPr>
        <p:spPr>
          <a:xfrm>
            <a:off x="722621" y="1914832"/>
            <a:ext cx="1074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video-streaming solutions were studied, including: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C07111-51D5-BBFD-5242-B50CDC1DC96F}"/>
              </a:ext>
            </a:extLst>
          </p:cNvPr>
          <p:cNvSpPr/>
          <p:nvPr/>
        </p:nvSpPr>
        <p:spPr>
          <a:xfrm>
            <a:off x="2399071" y="2700693"/>
            <a:ext cx="7000568" cy="1347019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ClipBucket 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 video-sharing environment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PeerTube 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self-hosted and federated video streaming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Datarhei Restreamer: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video streaming and stream management</a:t>
            </a:r>
            <a:endParaRPr lang="en-IN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564E5-229B-D4B5-D95E-1D91FC1CA2A8}"/>
              </a:ext>
            </a:extLst>
          </p:cNvPr>
          <p:cNvSpPr txBox="1"/>
          <p:nvPr/>
        </p:nvSpPr>
        <p:spPr>
          <a:xfrm>
            <a:off x="798846" y="4398155"/>
            <a:ext cx="1059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platforms provide useful streaming capabilities, but their architectures and workflows are designed for their own specific purposes.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2.2.1 Drawbacks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CB8254-6A30-BE66-315B-889C43B44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2531"/>
              </p:ext>
            </p:extLst>
          </p:nvPr>
        </p:nvGraphicFramePr>
        <p:xfrm>
          <a:off x="973393" y="1753834"/>
          <a:ext cx="10618788" cy="404037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35852">
                  <a:extLst>
                    <a:ext uri="{9D8B030D-6E8A-4147-A177-3AD203B41FA5}">
                      <a16:colId xmlns:a16="http://schemas.microsoft.com/office/drawing/2014/main" val="2025901178"/>
                    </a:ext>
                  </a:extLst>
                </a:gridCol>
                <a:gridCol w="2017189">
                  <a:extLst>
                    <a:ext uri="{9D8B030D-6E8A-4147-A177-3AD203B41FA5}">
                      <a16:colId xmlns:a16="http://schemas.microsoft.com/office/drawing/2014/main" val="399290159"/>
                    </a:ext>
                  </a:extLst>
                </a:gridCol>
                <a:gridCol w="1998159">
                  <a:extLst>
                    <a:ext uri="{9D8B030D-6E8A-4147-A177-3AD203B41FA5}">
                      <a16:colId xmlns:a16="http://schemas.microsoft.com/office/drawing/2014/main" val="1156952480"/>
                    </a:ext>
                  </a:extLst>
                </a:gridCol>
                <a:gridCol w="2043831">
                  <a:extLst>
                    <a:ext uri="{9D8B030D-6E8A-4147-A177-3AD203B41FA5}">
                      <a16:colId xmlns:a16="http://schemas.microsoft.com/office/drawing/2014/main" val="2867136813"/>
                    </a:ext>
                  </a:extLst>
                </a:gridCol>
                <a:gridCol w="2123757">
                  <a:extLst>
                    <a:ext uri="{9D8B030D-6E8A-4147-A177-3AD203B41FA5}">
                      <a16:colId xmlns:a16="http://schemas.microsoft.com/office/drawing/2014/main" val="81719771"/>
                    </a:ext>
                  </a:extLst>
                </a:gridCol>
              </a:tblGrid>
              <a:tr h="595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ClipBucket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PeerTube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Datarhei Restreamer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StreamHub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557663591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Streaming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4153322710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Role-Based Access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566644496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Google OAuth2 Login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1817551291"/>
                  </a:ext>
                </a:extLst>
              </a:tr>
              <a:tr h="59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Refresh-Token Rotation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240626839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Email Verification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762277838"/>
                  </a:ext>
                </a:extLst>
              </a:tr>
              <a:tr h="331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Comments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478458597"/>
                  </a:ext>
                </a:extLst>
              </a:tr>
              <a:tr h="59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Platform Feedback Module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832425782"/>
                  </a:ext>
                </a:extLst>
              </a:tr>
              <a:tr h="59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 Admin Workflow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T="34350" marB="34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</a:t>
                      </a:r>
                    </a:p>
                  </a:txBody>
                  <a:tcPr marT="34350" marB="34350" anchor="ctr"/>
                </a:tc>
                <a:extLst>
                  <a:ext uri="{0D108BD9-81ED-4DB2-BD59-A6C34878D82A}">
                    <a16:rowId xmlns:a16="http://schemas.microsoft.com/office/drawing/2014/main" val="33781007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2.3 Proposed Systems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9935A-DE8F-3D2A-A485-7F3AEDB9C44B}"/>
              </a:ext>
            </a:extLst>
          </p:cNvPr>
          <p:cNvSpPr txBox="1"/>
          <p:nvPr/>
        </p:nvSpPr>
        <p:spPr>
          <a:xfrm>
            <a:off x="1326372" y="1545198"/>
            <a:ext cx="1102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StreamHub is a customized full-stack video streaming platform designed to provide greater control over the application's features, workflows, and architecture.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E359A-1CA4-D856-A923-7CBE513AF36E}"/>
              </a:ext>
            </a:extLst>
          </p:cNvPr>
          <p:cNvSpPr txBox="1"/>
          <p:nvPr/>
        </p:nvSpPr>
        <p:spPr>
          <a:xfrm>
            <a:off x="1940863" y="2278261"/>
            <a:ext cx="9799205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Adaptive Video Streaming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FFmpeg-based HLS processing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Authentication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JWT, refresh-token rotation &amp; Google OAuth2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&amp; Admin Management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Separate roles and controlled access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Management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Upload, stream and manage videos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Users, videos and feedback management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Full-Stack Architecture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React.js + Spring Boot + MySQL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Verification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OTP-based verification using SMTP with Redis TTL and secure OTP expiration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&amp; Pagination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Efficient video search and paginated content browsing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2.3.1 Comparison Study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10CCAF-364B-ACC7-0FAA-22AF30293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182463"/>
              </p:ext>
            </p:extLst>
          </p:nvPr>
        </p:nvGraphicFramePr>
        <p:xfrm>
          <a:off x="1406013" y="1484671"/>
          <a:ext cx="9497960" cy="4585902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899592">
                  <a:extLst>
                    <a:ext uri="{9D8B030D-6E8A-4147-A177-3AD203B41FA5}">
                      <a16:colId xmlns:a16="http://schemas.microsoft.com/office/drawing/2014/main" val="614672512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3644728949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1136782098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3232114520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117501440"/>
                    </a:ext>
                  </a:extLst>
                </a:gridCol>
              </a:tblGrid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ClipBucket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PeerTube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Datarhei Restreamer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StreamHub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130326941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Upload &amp; Streaming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Streaming-focused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335946844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Adaptive HLS Streaming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HLS + FFmpeg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3700816387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Role-Based Access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Admin / Moderator / User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Admin-focused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/ Admin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36511880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Authentication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 / Registration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Access Token / OAuth2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 / JWT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JWT + Google OAuth2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1753930672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 Management</a:t>
                      </a:r>
                      <a:endParaRPr lang="en-IN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&amp; Manage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&amp; Manage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 Management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Upload + My Videos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1809615264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Comments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Comments + Moderation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3067514545"/>
                  </a:ext>
                </a:extLst>
              </a:tr>
              <a:tr h="34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Email Verification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highlighted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Available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OTP + Redis TTL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2699017666"/>
                  </a:ext>
                </a:extLst>
              </a:tr>
              <a:tr h="34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Module</a:t>
                      </a:r>
                      <a:endParaRPr lang="en-IN" sz="16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core feature</a:t>
                      </a:r>
                    </a:p>
                  </a:txBody>
                  <a:tcPr marL="82290" marR="82290" marT="34005" marB="34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Built-in Feedback</a:t>
                      </a:r>
                    </a:p>
                  </a:txBody>
                  <a:tcPr marL="82290" marR="82290" marT="34005" marB="34005" anchor="ctr"/>
                </a:tc>
                <a:extLst>
                  <a:ext uri="{0D108BD9-81ED-4DB2-BD59-A6C34878D82A}">
                    <a16:rowId xmlns:a16="http://schemas.microsoft.com/office/drawing/2014/main" val="3412750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2.3.2 Modules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F71315-1B52-E7DE-8BEF-DB5EF83E1705}"/>
              </a:ext>
            </a:extLst>
          </p:cNvPr>
          <p:cNvGrpSpPr/>
          <p:nvPr/>
        </p:nvGrpSpPr>
        <p:grpSpPr>
          <a:xfrm>
            <a:off x="988141" y="1632857"/>
            <a:ext cx="10215718" cy="4206829"/>
            <a:chOff x="875071" y="1989083"/>
            <a:chExt cx="10215718" cy="42068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590FAC-587D-54C7-8D57-E1BF01E15C90}"/>
                </a:ext>
              </a:extLst>
            </p:cNvPr>
            <p:cNvGrpSpPr/>
            <p:nvPr/>
          </p:nvGrpSpPr>
          <p:grpSpPr>
            <a:xfrm>
              <a:off x="875071" y="2037811"/>
              <a:ext cx="4800600" cy="4158101"/>
              <a:chOff x="1966452" y="2326347"/>
              <a:chExt cx="4800600" cy="4158101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C93881B2-768E-E73A-2844-87F4C3D5A0CE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A91846C-BBB4-E0C6-6350-0A2BC7E9392F}"/>
                  </a:ext>
                </a:extLst>
              </p:cNvPr>
              <p:cNvSpPr/>
              <p:nvPr/>
            </p:nvSpPr>
            <p:spPr>
              <a:xfrm>
                <a:off x="2206601" y="2433535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022900-022A-E62E-FDC3-950C0FFBCBF0}"/>
                  </a:ext>
                </a:extLst>
              </p:cNvPr>
              <p:cNvSpPr txBox="1"/>
              <p:nvPr/>
            </p:nvSpPr>
            <p:spPr>
              <a:xfrm>
                <a:off x="2781196" y="2326347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USER AUTHENTICATION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Registration, JWT, refresh tokens &amp; Google OAuth2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AD167E6B-1112-8677-700B-EFDCD8C38A43}"/>
                  </a:ext>
                </a:extLst>
              </p:cNvPr>
              <p:cNvSpPr/>
              <p:nvPr/>
            </p:nvSpPr>
            <p:spPr>
              <a:xfrm>
                <a:off x="2240472" y="5741772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7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ACAA2CF-1040-06DB-24AF-AB2686FFBEE2}"/>
                  </a:ext>
                </a:extLst>
              </p:cNvPr>
              <p:cNvSpPr txBox="1"/>
              <p:nvPr/>
            </p:nvSpPr>
            <p:spPr>
              <a:xfrm>
                <a:off x="2781196" y="5622674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COMMENT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Users can comment and admins can moderate discussions. </a:t>
                </a:r>
                <a:endParaRPr lang="en-IN" sz="1600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9D8B13-48EC-61D5-820E-E7905EC8A732}"/>
                </a:ext>
              </a:extLst>
            </p:cNvPr>
            <p:cNvGrpSpPr/>
            <p:nvPr/>
          </p:nvGrpSpPr>
          <p:grpSpPr>
            <a:xfrm>
              <a:off x="6290189" y="1989083"/>
              <a:ext cx="4800600" cy="981676"/>
              <a:chOff x="1966452" y="2277619"/>
              <a:chExt cx="4800600" cy="981676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05906BD-E857-70FC-DDAD-A531CF7A5476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2F9A9B1-5B84-C01A-659E-C8C19073F30E}"/>
                  </a:ext>
                </a:extLst>
              </p:cNvPr>
              <p:cNvSpPr/>
              <p:nvPr/>
            </p:nvSpPr>
            <p:spPr>
              <a:xfrm>
                <a:off x="2205530" y="2442884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7BA7EE-9AAB-C279-3E37-A1B29359C495}"/>
                  </a:ext>
                </a:extLst>
              </p:cNvPr>
              <p:cNvSpPr txBox="1"/>
              <p:nvPr/>
            </p:nvSpPr>
            <p:spPr>
              <a:xfrm>
                <a:off x="2733316" y="2277619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ADMIN AUTHENTICATION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Dedicated admin login &amp; ROLE_ADMIN authorization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4ED71CB-C09C-3233-09B5-AD4F74E0D9F1}"/>
                </a:ext>
              </a:extLst>
            </p:cNvPr>
            <p:cNvGrpSpPr/>
            <p:nvPr/>
          </p:nvGrpSpPr>
          <p:grpSpPr>
            <a:xfrm>
              <a:off x="875071" y="3149818"/>
              <a:ext cx="4800600" cy="877073"/>
              <a:chOff x="1966452" y="2382222"/>
              <a:chExt cx="4800600" cy="877073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28C0648-C4E5-35FC-7DF1-D86F19493E34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C14DFD8-8359-7A00-24A1-0CB27548BE5E}"/>
                  </a:ext>
                </a:extLst>
              </p:cNvPr>
              <p:cNvSpPr/>
              <p:nvPr/>
            </p:nvSpPr>
            <p:spPr>
              <a:xfrm>
                <a:off x="2240472" y="2477126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3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14C45-F780-67A3-1FF4-4AC0A990D13B}"/>
                  </a:ext>
                </a:extLst>
              </p:cNvPr>
              <p:cNvSpPr txBox="1"/>
              <p:nvPr/>
            </p:nvSpPr>
            <p:spPr>
              <a:xfrm>
                <a:off x="2733316" y="2382222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USER MANAGEMENT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Profile management &amp; administrator account control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B02E46-7E77-A1F1-6283-FE541A11B22E}"/>
                </a:ext>
              </a:extLst>
            </p:cNvPr>
            <p:cNvGrpSpPr/>
            <p:nvPr/>
          </p:nvGrpSpPr>
          <p:grpSpPr>
            <a:xfrm>
              <a:off x="6290189" y="3039479"/>
              <a:ext cx="4800600" cy="987412"/>
              <a:chOff x="1966452" y="2271883"/>
              <a:chExt cx="4800600" cy="98741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8772B95-BD30-782D-2C11-A6A768DFE59C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5FB178C-155A-183D-5B5F-450D3EA9F5F6}"/>
                  </a:ext>
                </a:extLst>
              </p:cNvPr>
              <p:cNvSpPr/>
              <p:nvPr/>
            </p:nvSpPr>
            <p:spPr>
              <a:xfrm>
                <a:off x="2206601" y="2395187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342B45-D366-0199-1D63-0C648CC38235}"/>
                  </a:ext>
                </a:extLst>
              </p:cNvPr>
              <p:cNvSpPr txBox="1"/>
              <p:nvPr/>
            </p:nvSpPr>
            <p:spPr>
              <a:xfrm>
                <a:off x="2733316" y="2271883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VIDEO UPLOAD &amp; STREAMING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FFmpeg + HLS adaptive streaming + HTTP Range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1DB659F-E047-CC92-F776-1FFBBC37F08C}"/>
                </a:ext>
              </a:extLst>
            </p:cNvPr>
            <p:cNvGrpSpPr/>
            <p:nvPr/>
          </p:nvGrpSpPr>
          <p:grpSpPr>
            <a:xfrm>
              <a:off x="6523235" y="4129354"/>
              <a:ext cx="3896451" cy="861774"/>
              <a:chOff x="2199498" y="2277979"/>
              <a:chExt cx="3896451" cy="86177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C865D4F-70ED-1C34-6F9E-9167FFA65A1A}"/>
                  </a:ext>
                </a:extLst>
              </p:cNvPr>
              <p:cNvSpPr/>
              <p:nvPr/>
            </p:nvSpPr>
            <p:spPr>
              <a:xfrm>
                <a:off x="2199498" y="2442832"/>
                <a:ext cx="436259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6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C49A4A-FF11-3CBA-A16F-7B5B547BC911}"/>
                  </a:ext>
                </a:extLst>
              </p:cNvPr>
              <p:cNvSpPr txBox="1"/>
              <p:nvPr/>
            </p:nvSpPr>
            <p:spPr>
              <a:xfrm>
                <a:off x="2733316" y="2277979"/>
                <a:ext cx="336263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ADMIN DASHBOARD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Platform statistics, users, roles &amp; video management</a:t>
                </a:r>
                <a:endPara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418E67-F156-A9CA-CAFF-EB1CA5A21970}"/>
                </a:ext>
              </a:extLst>
            </p:cNvPr>
            <p:cNvGrpSpPr/>
            <p:nvPr/>
          </p:nvGrpSpPr>
          <p:grpSpPr>
            <a:xfrm>
              <a:off x="922951" y="4132273"/>
              <a:ext cx="4800600" cy="1077218"/>
              <a:chOff x="1966452" y="2280898"/>
              <a:chExt cx="4800600" cy="1077218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4111A4A-7FA0-50E6-A207-0F164C31FF84}"/>
                  </a:ext>
                </a:extLst>
              </p:cNvPr>
              <p:cNvSpPr/>
              <p:nvPr/>
            </p:nvSpPr>
            <p:spPr>
              <a:xfrm>
                <a:off x="1966452" y="2408903"/>
                <a:ext cx="4800600" cy="85039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F65C1A2-D458-6773-2DCA-F713B690BA74}"/>
                  </a:ext>
                </a:extLst>
              </p:cNvPr>
              <p:cNvSpPr/>
              <p:nvPr/>
            </p:nvSpPr>
            <p:spPr>
              <a:xfrm>
                <a:off x="2192592" y="2462496"/>
                <a:ext cx="438912" cy="438912"/>
              </a:xfrm>
              <a:prstGeom prst="ellipse">
                <a:avLst/>
              </a:prstGeom>
              <a:solidFill>
                <a:srgbClr val="B2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/>
                  <a:t>5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5B0176-D325-55AF-F8CC-0C95118B1105}"/>
                  </a:ext>
                </a:extLst>
              </p:cNvPr>
              <p:cNvSpPr txBox="1"/>
              <p:nvPr/>
            </p:nvSpPr>
            <p:spPr>
              <a:xfrm>
                <a:off x="2733316" y="2280898"/>
                <a:ext cx="392927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800" b="1" dirty="0">
                    <a:solidFill>
                      <a:srgbClr val="B2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MY VIDEOS</a:t>
                </a:r>
              </a:p>
              <a:p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Personalized uploaded videos with manage/delete options</a:t>
                </a:r>
              </a:p>
              <a:p>
                <a:endPara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8" name="Oval 127">
            <a:extLst>
              <a:ext uri="{FF2B5EF4-FFF2-40B4-BE49-F238E27FC236}">
                <a16:creationId xmlns:a16="http://schemas.microsoft.com/office/drawing/2014/main" id="{2CF54AC1-C5C6-C276-CA8B-D44FA2D9EDA2}"/>
              </a:ext>
            </a:extLst>
          </p:cNvPr>
          <p:cNvSpPr/>
          <p:nvPr/>
        </p:nvSpPr>
        <p:spPr>
          <a:xfrm>
            <a:off x="6642337" y="5097010"/>
            <a:ext cx="438912" cy="43891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8</a:t>
            </a:r>
            <a:endParaRPr lang="en-IN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356241D-C0D6-9330-6BDF-DCD061D9752C}"/>
              </a:ext>
            </a:extLst>
          </p:cNvPr>
          <p:cNvSpPr txBox="1"/>
          <p:nvPr/>
        </p:nvSpPr>
        <p:spPr>
          <a:xfrm>
            <a:off x="7170123" y="4977912"/>
            <a:ext cx="33626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Verification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6-digit OTP verification with secure expiry and resend control.</a:t>
            </a:r>
            <a:endParaRPr lang="en-IN" sz="1600" b="1" dirty="0">
              <a:solidFill>
                <a:srgbClr val="B2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3.1 Hardware Requirements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8FC18-CE30-9846-87D7-B04111B0014A}"/>
              </a:ext>
            </a:extLst>
          </p:cNvPr>
          <p:cNvGrpSpPr/>
          <p:nvPr/>
        </p:nvGrpSpPr>
        <p:grpSpPr>
          <a:xfrm>
            <a:off x="958644" y="1827214"/>
            <a:ext cx="4800600" cy="3342099"/>
            <a:chOff x="988141" y="2820273"/>
            <a:chExt cx="4800600" cy="334209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1DD303-496A-20A1-BFA3-75CA13F26C89}"/>
                </a:ext>
              </a:extLst>
            </p:cNvPr>
            <p:cNvSpPr/>
            <p:nvPr/>
          </p:nvSpPr>
          <p:spPr>
            <a:xfrm>
              <a:off x="988141" y="2820273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B4B41D7-38B9-9851-57C2-A588F145CD3B}"/>
                </a:ext>
              </a:extLst>
            </p:cNvPr>
            <p:cNvSpPr/>
            <p:nvPr/>
          </p:nvSpPr>
          <p:spPr>
            <a:xfrm>
              <a:off x="1214281" y="3026013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91031E-DEC7-3D15-CF40-75D2CAB81A35}"/>
                </a:ext>
              </a:extLst>
            </p:cNvPr>
            <p:cNvSpPr txBox="1"/>
            <p:nvPr/>
          </p:nvSpPr>
          <p:spPr>
            <a:xfrm>
              <a:off x="1755005" y="2932001"/>
              <a:ext cx="33626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PROCESSOR</a:t>
              </a:r>
            </a:p>
            <a:p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Intel Core i5 (10th Gen) or higher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AMD Ryzen 5 or higher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9B25165-2189-0253-0F0E-827761B70291}"/>
                </a:ext>
              </a:extLst>
            </p:cNvPr>
            <p:cNvSpPr/>
            <p:nvPr/>
          </p:nvSpPr>
          <p:spPr>
            <a:xfrm>
              <a:off x="988141" y="3872094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C42C86F-BDAC-238F-2C97-3320E8F693D5}"/>
                </a:ext>
              </a:extLst>
            </p:cNvPr>
            <p:cNvSpPr/>
            <p:nvPr/>
          </p:nvSpPr>
          <p:spPr>
            <a:xfrm>
              <a:off x="1214281" y="4077834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6D1287-4BB5-B570-8A18-A1B59E89093E}"/>
                </a:ext>
              </a:extLst>
            </p:cNvPr>
            <p:cNvSpPr txBox="1"/>
            <p:nvPr/>
          </p:nvSpPr>
          <p:spPr>
            <a:xfrm>
              <a:off x="1755005" y="3868061"/>
              <a:ext cx="336263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STORAGE</a:t>
              </a:r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256 GB SSD or higher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Additional storage for videos &amp; HLS segments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AE4E27B-DA92-E2B2-CAF9-60545AD21D3B}"/>
                </a:ext>
              </a:extLst>
            </p:cNvPr>
            <p:cNvSpPr/>
            <p:nvPr/>
          </p:nvSpPr>
          <p:spPr>
            <a:xfrm>
              <a:off x="988141" y="4923915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DC15B3A-C9EC-F8F8-61A9-39ABF28AAEBC}"/>
                </a:ext>
              </a:extLst>
            </p:cNvPr>
            <p:cNvSpPr/>
            <p:nvPr/>
          </p:nvSpPr>
          <p:spPr>
            <a:xfrm>
              <a:off x="1214281" y="5179294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029B25-DB42-AC5C-C80E-8F0B50E779D8}"/>
                </a:ext>
              </a:extLst>
            </p:cNvPr>
            <p:cNvSpPr txBox="1"/>
            <p:nvPr/>
          </p:nvSpPr>
          <p:spPr>
            <a:xfrm>
              <a:off x="1755004" y="5054376"/>
              <a:ext cx="336263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INTERNET CONNECTION</a:t>
              </a:r>
            </a:p>
            <a:p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Broadband connection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Minimum 5 Mbps for streaming &amp; API testing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3F1E8F-9358-E0A7-5D76-A3BA4B3202A4}"/>
              </a:ext>
            </a:extLst>
          </p:cNvPr>
          <p:cNvGrpSpPr/>
          <p:nvPr/>
        </p:nvGrpSpPr>
        <p:grpSpPr>
          <a:xfrm>
            <a:off x="6095949" y="1921264"/>
            <a:ext cx="4800600" cy="2965416"/>
            <a:chOff x="988141" y="2932001"/>
            <a:chExt cx="4800600" cy="2965416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45B8467-52FB-B7E3-614D-9C48070E33F7}"/>
                </a:ext>
              </a:extLst>
            </p:cNvPr>
            <p:cNvSpPr/>
            <p:nvPr/>
          </p:nvSpPr>
          <p:spPr>
            <a:xfrm>
              <a:off x="988141" y="2949679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CB98E6C-B927-B864-18BA-443EF2DEC29A}"/>
                </a:ext>
              </a:extLst>
            </p:cNvPr>
            <p:cNvSpPr/>
            <p:nvPr/>
          </p:nvSpPr>
          <p:spPr>
            <a:xfrm>
              <a:off x="1214281" y="3026013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F56AEB-2565-9717-1A3B-CAA9B5E343F8}"/>
                </a:ext>
              </a:extLst>
            </p:cNvPr>
            <p:cNvSpPr txBox="1"/>
            <p:nvPr/>
          </p:nvSpPr>
          <p:spPr>
            <a:xfrm>
              <a:off x="1755005" y="2932001"/>
              <a:ext cx="375602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RAM</a:t>
              </a:r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 GB minimum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 GB recommended for video processing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0F2BB6F-1BED-112A-22A8-2D2745E455FA}"/>
                </a:ext>
              </a:extLst>
            </p:cNvPr>
            <p:cNvSpPr/>
            <p:nvPr/>
          </p:nvSpPr>
          <p:spPr>
            <a:xfrm>
              <a:off x="988141" y="3872094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6A46ADE6-9D75-6340-F1F5-05C8FA963FFE}"/>
                </a:ext>
              </a:extLst>
            </p:cNvPr>
            <p:cNvSpPr/>
            <p:nvPr/>
          </p:nvSpPr>
          <p:spPr>
            <a:xfrm>
              <a:off x="1214281" y="4077834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03E241-6A89-77A1-9C31-EACAEC73B535}"/>
                </a:ext>
              </a:extLst>
            </p:cNvPr>
            <p:cNvSpPr txBox="1"/>
            <p:nvPr/>
          </p:nvSpPr>
          <p:spPr>
            <a:xfrm>
              <a:off x="1755005" y="3983822"/>
              <a:ext cx="3362633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DISPLAY</a:t>
              </a:r>
            </a:p>
            <a:p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1366 × 768 resolution or higher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E6FBD7B0-770D-7752-9D12-BA4CBF202C59}"/>
                </a:ext>
              </a:extLst>
            </p:cNvPr>
            <p:cNvSpPr/>
            <p:nvPr/>
          </p:nvSpPr>
          <p:spPr>
            <a:xfrm>
              <a:off x="988141" y="4923915"/>
              <a:ext cx="4800600" cy="8503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65AD9D2-BC12-5101-16AD-F470A19827D6}"/>
                </a:ext>
              </a:extLst>
            </p:cNvPr>
            <p:cNvSpPr/>
            <p:nvPr/>
          </p:nvSpPr>
          <p:spPr>
            <a:xfrm>
              <a:off x="1214281" y="5129655"/>
              <a:ext cx="438912" cy="438912"/>
            </a:xfrm>
            <a:prstGeom prst="ellipse">
              <a:avLst/>
            </a:prstGeom>
            <a:solidFill>
              <a:srgbClr val="B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6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4BB78FF-6965-4FDB-A737-21D98701890C}"/>
                </a:ext>
              </a:extLst>
            </p:cNvPr>
            <p:cNvSpPr txBox="1"/>
            <p:nvPr/>
          </p:nvSpPr>
          <p:spPr>
            <a:xfrm>
              <a:off x="1755005" y="5035643"/>
              <a:ext cx="33626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OTHER</a:t>
              </a:r>
            </a:p>
            <a:p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Keyboard, Mouse</a:t>
              </a:r>
              <a:b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Stable power supply</a:t>
              </a:r>
              <a:endPara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ADC4484-DB39-854C-FBB4-C5A9593336E5}"/>
              </a:ext>
            </a:extLst>
          </p:cNvPr>
          <p:cNvSpPr/>
          <p:nvPr/>
        </p:nvSpPr>
        <p:spPr>
          <a:xfrm>
            <a:off x="1278193" y="5505488"/>
            <a:ext cx="9448800" cy="550606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4D4D4D"/>
                </a:solidFill>
              </a:rPr>
              <a:t>Recommended: 16 GB RAM and sufficient storage for smoother video processing and HLS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415600" y="604564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3.2 Software Requirements</a:t>
            </a:r>
            <a:br>
              <a:rPr lang="en-IN"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170F6-1465-37C0-5E1B-13B7E9B65252}"/>
              </a:ext>
            </a:extLst>
          </p:cNvPr>
          <p:cNvSpPr txBox="1"/>
          <p:nvPr/>
        </p:nvSpPr>
        <p:spPr>
          <a:xfrm>
            <a:off x="2861137" y="1298595"/>
            <a:ext cx="6469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environment and technology stack used to develop StreamHub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9ED445-199E-1372-389A-22DAE9E57DB6}"/>
              </a:ext>
            </a:extLst>
          </p:cNvPr>
          <p:cNvSpPr/>
          <p:nvPr/>
        </p:nvSpPr>
        <p:spPr>
          <a:xfrm>
            <a:off x="1043890" y="1850174"/>
            <a:ext cx="10104120" cy="658368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ENVIRONMENT</a:t>
            </a:r>
          </a:p>
          <a:p>
            <a:pPr algn="ctr"/>
            <a:r>
              <a:rPr lang="en-IN" sz="160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10 / 11 • Visual Studio Code • IntelliJ IDEA • Java JDK 21</a:t>
            </a:r>
            <a:endParaRPr lang="en-IN" sz="1600" b="1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61B4EE-84B7-547F-1523-55F2C923EF80}"/>
              </a:ext>
            </a:extLst>
          </p:cNvPr>
          <p:cNvGrpSpPr/>
          <p:nvPr/>
        </p:nvGrpSpPr>
        <p:grpSpPr>
          <a:xfrm>
            <a:off x="6469526" y="2752343"/>
            <a:ext cx="4678484" cy="2427939"/>
            <a:chOff x="6469526" y="2752343"/>
            <a:chExt cx="4678484" cy="242793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00206F5-C7EA-4FBC-EE90-E4DBD3B588AE}"/>
                </a:ext>
              </a:extLst>
            </p:cNvPr>
            <p:cNvSpPr/>
            <p:nvPr/>
          </p:nvSpPr>
          <p:spPr>
            <a:xfrm>
              <a:off x="6469526" y="2752343"/>
              <a:ext cx="4678484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BACK-END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Boot 3.5.7 • Spring Web • Spring Security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Data JPA • Spring Validation • OAuth2 Client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5FC4677-3008-B5DB-1AFA-40EF91655BD6}"/>
                </a:ext>
              </a:extLst>
            </p:cNvPr>
            <p:cNvSpPr/>
            <p:nvPr/>
          </p:nvSpPr>
          <p:spPr>
            <a:xfrm>
              <a:off x="6469526" y="4088213"/>
              <a:ext cx="4678484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SECURITY &amp; API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JJWT • Spring Security • Google OAuth2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Swagger / OpenAPI (springdoc-openapi)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DAB917-19EB-E66F-0388-6FBD35825A28}"/>
              </a:ext>
            </a:extLst>
          </p:cNvPr>
          <p:cNvGrpSpPr/>
          <p:nvPr/>
        </p:nvGrpSpPr>
        <p:grpSpPr>
          <a:xfrm>
            <a:off x="1043889" y="2752344"/>
            <a:ext cx="4796471" cy="2427938"/>
            <a:chOff x="1043889" y="2752344"/>
            <a:chExt cx="4796471" cy="242793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5F9D456-67C7-E8CE-304F-33728CA32D85}"/>
                </a:ext>
              </a:extLst>
            </p:cNvPr>
            <p:cNvSpPr/>
            <p:nvPr/>
          </p:nvSpPr>
          <p:spPr>
            <a:xfrm>
              <a:off x="1043889" y="2752344"/>
              <a:ext cx="4796471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FRONT-END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React.js • TypeScript • JavaScript • Vite • Tailwind CSS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Zustand • Axios • Video.js • React Router DOM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480AEB4-747C-A569-7628-D7CE02D4452A}"/>
                </a:ext>
              </a:extLst>
            </p:cNvPr>
            <p:cNvSpPr/>
            <p:nvPr/>
          </p:nvSpPr>
          <p:spPr>
            <a:xfrm>
              <a:off x="1043890" y="4088213"/>
              <a:ext cx="4796470" cy="1092069"/>
            </a:xfrm>
            <a:prstGeom prst="roundRect">
              <a:avLst/>
            </a:prstGeom>
            <a:solidFill>
              <a:srgbClr val="FC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&amp; VIDEO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MySQL • FFmpeg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Video processing and HLS conversion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BA793D-9DE7-77C6-E099-DC54415FE243}"/>
              </a:ext>
            </a:extLst>
          </p:cNvPr>
          <p:cNvSpPr/>
          <p:nvPr/>
        </p:nvSpPr>
        <p:spPr>
          <a:xfrm>
            <a:off x="1043890" y="5424082"/>
            <a:ext cx="10104120" cy="658368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&amp; TESTING</a:t>
            </a:r>
            <a:endParaRPr lang="en-IN" sz="1600" b="1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60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ModelMapper • Git &amp; GitHub • Postman • Maven • npm / Vite</a:t>
            </a:r>
            <a:endParaRPr lang="en-IN" sz="1600" b="1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58644265-DC14-41BF-1E99-DFF53641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>
            <a:extLst>
              <a:ext uri="{FF2B5EF4-FFF2-40B4-BE49-F238E27FC236}">
                <a16:creationId xmlns:a16="http://schemas.microsoft.com/office/drawing/2014/main" id="{76551606-7F12-2005-E683-41D4BA608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13031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  3.3 Programming Environment</a:t>
            </a:r>
            <a:endParaRPr dirty="0"/>
          </a:p>
        </p:txBody>
      </p:sp>
      <p:sp>
        <p:nvSpPr>
          <p:cNvPr id="5" name="Google Shape;163;p24">
            <a:extLst>
              <a:ext uri="{FF2B5EF4-FFF2-40B4-BE49-F238E27FC236}">
                <a16:creationId xmlns:a16="http://schemas.microsoft.com/office/drawing/2014/main" id="{CC21A529-47B3-FF5E-B39E-46ADCF619A93}"/>
              </a:ext>
            </a:extLst>
          </p:cNvPr>
          <p:cNvSpPr txBox="1">
            <a:spLocks/>
          </p:cNvSpPr>
          <p:nvPr/>
        </p:nvSpPr>
        <p:spPr>
          <a:xfrm>
            <a:off x="400410" y="61303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           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5CC536-5AC5-9F5D-128D-25FB0D6D287D}"/>
              </a:ext>
            </a:extLst>
          </p:cNvPr>
          <p:cNvSpPr/>
          <p:nvPr/>
        </p:nvSpPr>
        <p:spPr>
          <a:xfrm>
            <a:off x="4160520" y="2016105"/>
            <a:ext cx="3337560" cy="1600200"/>
          </a:xfrm>
          <a:prstGeom prst="roundRect">
            <a:avLst/>
          </a:prstGeom>
          <a:solidFill>
            <a:srgbClr val="B20000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RESTful APIs</a:t>
            </a:r>
          </a:p>
          <a:p>
            <a:pPr algn="ctr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Request / Response</a:t>
            </a:r>
          </a:p>
          <a:p>
            <a:pPr algn="ctr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 ↔ Back-End</a:t>
            </a:r>
            <a:endParaRPr lang="en-IN" sz="1600" b="1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B27E04-1DBB-51F0-ECAF-3AF77A240939}"/>
              </a:ext>
            </a:extLst>
          </p:cNvPr>
          <p:cNvGrpSpPr/>
          <p:nvPr/>
        </p:nvGrpSpPr>
        <p:grpSpPr>
          <a:xfrm>
            <a:off x="869832" y="1834208"/>
            <a:ext cx="3212984" cy="1965960"/>
            <a:chOff x="869832" y="1824376"/>
            <a:chExt cx="3212984" cy="196596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EF0E078-A1F0-24FE-B390-EC13B4DAEA86}"/>
                </a:ext>
              </a:extLst>
            </p:cNvPr>
            <p:cNvSpPr/>
            <p:nvPr/>
          </p:nvSpPr>
          <p:spPr>
            <a:xfrm>
              <a:off x="869832" y="1824376"/>
              <a:ext cx="2971800" cy="196596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FRONT-END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React.js • TypeScript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Vite • Tailwind CSS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 Interface &amp; Client-side Logic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3193FFC8-0299-0F80-BB13-03616316AB45}"/>
                </a:ext>
              </a:extLst>
            </p:cNvPr>
            <p:cNvSpPr/>
            <p:nvPr/>
          </p:nvSpPr>
          <p:spPr>
            <a:xfrm>
              <a:off x="3698768" y="2679045"/>
              <a:ext cx="384048" cy="274320"/>
            </a:xfrm>
            <a:prstGeom prst="rightArrow">
              <a:avLst/>
            </a:prstGeom>
            <a:solidFill>
              <a:srgbClr val="B20000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39F6A9-3825-C087-FA29-2303AA84226C}"/>
              </a:ext>
            </a:extLst>
          </p:cNvPr>
          <p:cNvGrpSpPr/>
          <p:nvPr/>
        </p:nvGrpSpPr>
        <p:grpSpPr>
          <a:xfrm>
            <a:off x="7576936" y="1824376"/>
            <a:ext cx="3366366" cy="1965960"/>
            <a:chOff x="7576936" y="1824376"/>
            <a:chExt cx="3366366" cy="196596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8570386-8AA2-AB79-C9E2-C5679B44DF6F}"/>
                </a:ext>
              </a:extLst>
            </p:cNvPr>
            <p:cNvSpPr/>
            <p:nvPr/>
          </p:nvSpPr>
          <p:spPr>
            <a:xfrm>
              <a:off x="7816967" y="1824376"/>
              <a:ext cx="3126335" cy="196596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BACK-END</a:t>
              </a:r>
            </a:p>
            <a:p>
              <a:pPr algn="ctr"/>
              <a:r>
                <a:rPr lang="en-GB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Java • Spring Boot</a:t>
              </a:r>
            </a:p>
            <a:p>
              <a:pPr algn="ctr"/>
              <a:r>
                <a:rPr lang="en-GB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Security • Spring Data JPA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Business Logic &amp; Server-side Processing</a:t>
              </a:r>
            </a:p>
          </p:txBody>
        </p:sp>
        <p:sp>
          <p:nvSpPr>
            <p:cNvPr id="19" name="Arrow: Left 18">
              <a:extLst>
                <a:ext uri="{FF2B5EF4-FFF2-40B4-BE49-F238E27FC236}">
                  <a16:creationId xmlns:a16="http://schemas.microsoft.com/office/drawing/2014/main" id="{441C9B8D-CDAC-380C-D13C-236902DB4C66}"/>
                </a:ext>
              </a:extLst>
            </p:cNvPr>
            <p:cNvSpPr/>
            <p:nvPr/>
          </p:nvSpPr>
          <p:spPr>
            <a:xfrm>
              <a:off x="7576936" y="2721060"/>
              <a:ext cx="385200" cy="273600"/>
            </a:xfrm>
            <a:prstGeom prst="leftArrow">
              <a:avLst/>
            </a:prstGeom>
            <a:solidFill>
              <a:srgbClr val="B20000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4C527A-EDE7-D909-D0FB-14ED4FD55035}"/>
              </a:ext>
            </a:extLst>
          </p:cNvPr>
          <p:cNvGrpSpPr/>
          <p:nvPr/>
        </p:nvGrpSpPr>
        <p:grpSpPr>
          <a:xfrm>
            <a:off x="4343400" y="3650745"/>
            <a:ext cx="2971800" cy="2031783"/>
            <a:chOff x="4343400" y="3650745"/>
            <a:chExt cx="2971800" cy="203178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2E1C557-01F6-FAD9-A13E-CCD36E5724BE}"/>
                </a:ext>
              </a:extLst>
            </p:cNvPr>
            <p:cNvSpPr/>
            <p:nvPr/>
          </p:nvSpPr>
          <p:spPr>
            <a:xfrm>
              <a:off x="4343400" y="4082328"/>
              <a:ext cx="2971800" cy="160020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DATABASE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MySQL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Persistent application data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59804219-5FAA-EF6F-1D6E-7B52D44E64F0}"/>
                </a:ext>
              </a:extLst>
            </p:cNvPr>
            <p:cNvSpPr/>
            <p:nvPr/>
          </p:nvSpPr>
          <p:spPr>
            <a:xfrm>
              <a:off x="5637276" y="3650745"/>
              <a:ext cx="384048" cy="548640"/>
            </a:xfrm>
            <a:prstGeom prst="downArrow">
              <a:avLst/>
            </a:prstGeom>
            <a:solidFill>
              <a:srgbClr val="B20000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245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BBA186FF-4528-D6A9-3934-3BF60A58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>
            <a:extLst>
              <a:ext uri="{FF2B5EF4-FFF2-40B4-BE49-F238E27FC236}">
                <a16:creationId xmlns:a16="http://schemas.microsoft.com/office/drawing/2014/main" id="{F213692E-954E-FB80-C1EB-62897122E3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13031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3.3.1 About Front-End</a:t>
            </a:r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78962-624C-ECBE-D9AA-C718B0D12A33}"/>
              </a:ext>
            </a:extLst>
          </p:cNvPr>
          <p:cNvGrpSpPr/>
          <p:nvPr/>
        </p:nvGrpSpPr>
        <p:grpSpPr>
          <a:xfrm>
            <a:off x="993058" y="1820264"/>
            <a:ext cx="10264680" cy="3592418"/>
            <a:chOff x="993058" y="1810432"/>
            <a:chExt cx="10264680" cy="359241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ED18840-28B5-8DD3-3460-085622AD0E96}"/>
                </a:ext>
              </a:extLst>
            </p:cNvPr>
            <p:cNvSpPr/>
            <p:nvPr/>
          </p:nvSpPr>
          <p:spPr>
            <a:xfrm>
              <a:off x="2072590" y="1810432"/>
              <a:ext cx="8046720" cy="960120"/>
            </a:xfrm>
            <a:prstGeom prst="roundRect">
              <a:avLst/>
            </a:prstGeom>
            <a:solidFill>
              <a:srgbClr val="B20000"/>
            </a:solidFill>
            <a:ln>
              <a:solidFill>
                <a:srgbClr val="B2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REACT.JS + TYPESCRIPT</a:t>
              </a:r>
            </a:p>
            <a:p>
              <a:pPr algn="ctr"/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Component-based • Type-safe • Maintainable Front-End Architecture</a:t>
              </a:r>
              <a:endPara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5C4B218-8F3F-7A3A-48A1-511B6215C6AA}"/>
                </a:ext>
              </a:extLst>
            </p:cNvPr>
            <p:cNvSpPr/>
            <p:nvPr/>
          </p:nvSpPr>
          <p:spPr>
            <a:xfrm>
              <a:off x="993058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VITE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Fast development server, bundling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&amp; Hot Module Replacement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59C7A3-B248-C9BB-6B41-4B44B194DD68}"/>
                </a:ext>
              </a:extLst>
            </p:cNvPr>
            <p:cNvSpPr/>
            <p:nvPr/>
          </p:nvSpPr>
          <p:spPr>
            <a:xfrm>
              <a:off x="4472890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TAILWIND CSS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Utility-first styling for a clean,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responsive dark-themed interface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9BB0579-7D1B-DFFF-51DC-01EF9AD7CFD1}"/>
                </a:ext>
              </a:extLst>
            </p:cNvPr>
            <p:cNvSpPr/>
            <p:nvPr/>
          </p:nvSpPr>
          <p:spPr>
            <a:xfrm>
              <a:off x="7952822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ZUSTAND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Lightweight state management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user &amp; admin authentication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2FDD94-23A0-4561-03CB-D4331ECE5013}"/>
                </a:ext>
              </a:extLst>
            </p:cNvPr>
            <p:cNvSpPr/>
            <p:nvPr/>
          </p:nvSpPr>
          <p:spPr>
            <a:xfrm>
              <a:off x="993058" y="4323858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VIDEO.JS</a:t>
              </a: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HTML5 video playback with</a:t>
              </a:r>
              <a:b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adaptive HLS streaming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37C6A1B-22A5-7C8A-426D-3DD2B44019AC}"/>
                </a:ext>
              </a:extLst>
            </p:cNvPr>
            <p:cNvSpPr/>
            <p:nvPr/>
          </p:nvSpPr>
          <p:spPr>
            <a:xfrm>
              <a:off x="4472890" y="4323858"/>
              <a:ext cx="6784848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AXIOS + REACT ROUTER DOM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sz="1600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Axios → REST API communication • Router DOM → client-side navigation</a:t>
              </a:r>
              <a:endParaRPr lang="en-IN" sz="1600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4012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3D667B00-1355-8D2C-9BB3-BB0E35D0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>
            <a:extLst>
              <a:ext uri="{FF2B5EF4-FFF2-40B4-BE49-F238E27FC236}">
                <a16:creationId xmlns:a16="http://schemas.microsoft.com/office/drawing/2014/main" id="{DB127F22-83D5-B240-7F50-734163E9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13031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3.3.2 About Back-End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93D55A-C0DA-CF53-18B8-AB9D7CCFB33E}"/>
              </a:ext>
            </a:extLst>
          </p:cNvPr>
          <p:cNvGrpSpPr/>
          <p:nvPr/>
        </p:nvGrpSpPr>
        <p:grpSpPr>
          <a:xfrm>
            <a:off x="845575" y="1810432"/>
            <a:ext cx="10564661" cy="3427826"/>
            <a:chOff x="845575" y="1810432"/>
            <a:chExt cx="10564661" cy="342782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7E25103-2F29-63AC-C9B1-39F0B91D4FB9}"/>
                </a:ext>
              </a:extLst>
            </p:cNvPr>
            <p:cNvSpPr/>
            <p:nvPr/>
          </p:nvSpPr>
          <p:spPr>
            <a:xfrm>
              <a:off x="2072590" y="1810432"/>
              <a:ext cx="8046720" cy="960120"/>
            </a:xfrm>
            <a:prstGeom prst="roundRect">
              <a:avLst/>
            </a:prstGeom>
            <a:solidFill>
              <a:srgbClr val="B20000"/>
            </a:solidFill>
            <a:ln>
              <a:solidFill>
                <a:srgbClr val="B2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JAVA (JDK 21) + SPRING BOOT 3.5.7</a:t>
              </a:r>
            </a:p>
            <a:p>
              <a:pPr algn="ctr"/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Layered, secure and API-driven back-end architecture</a:t>
              </a:r>
              <a:endPara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FA7F900-16FB-3556-DF0B-099C5E7E7A89}"/>
                </a:ext>
              </a:extLst>
            </p:cNvPr>
            <p:cNvSpPr/>
            <p:nvPr/>
          </p:nvSpPr>
          <p:spPr>
            <a:xfrm>
              <a:off x="993058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LAYERED ARCHITECTURE</a:t>
              </a:r>
            </a:p>
            <a:p>
              <a:pPr algn="ctr"/>
              <a:r>
                <a:rPr lang="en-IN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Controllers → Services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Repositories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DTOs • Entities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Separation of responsibilities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9DF146-F2CC-13FD-DE34-880DBEC845F8}"/>
                </a:ext>
              </a:extLst>
            </p:cNvPr>
            <p:cNvSpPr/>
            <p:nvPr/>
          </p:nvSpPr>
          <p:spPr>
            <a:xfrm>
              <a:off x="4472890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SECURITY &amp; AUTHENTICATION</a:t>
              </a:r>
            </a:p>
            <a:p>
              <a:pPr algn="ctr"/>
              <a:r>
                <a:rPr lang="en-IN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Security + JWT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Refresh-token rotation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Google OAuth2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Secure stateless authentication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EFE7FD3-06AB-2B50-AFD2-0C8D222B1737}"/>
                </a:ext>
              </a:extLst>
            </p:cNvPr>
            <p:cNvSpPr/>
            <p:nvPr/>
          </p:nvSpPr>
          <p:spPr>
            <a:xfrm>
              <a:off x="7952822" y="3043304"/>
              <a:ext cx="3246120" cy="1078992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VIDEO PROCESSING</a:t>
              </a:r>
            </a:p>
            <a:p>
              <a:pPr algn="ctr"/>
              <a:r>
                <a:rPr lang="en-IN" b="1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FFmpeg → HLS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.m3u8 master playlist .</a:t>
              </a:r>
              <a:r>
                <a:rPr lang="en-IN" dirty="0" err="1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ts</a:t>
              </a: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video segments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Adaptive streaming preparation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48015D3-17EC-ECF9-88B3-3B84896D511D}"/>
                </a:ext>
              </a:extLst>
            </p:cNvPr>
            <p:cNvSpPr/>
            <p:nvPr/>
          </p:nvSpPr>
          <p:spPr>
            <a:xfrm>
              <a:off x="845575" y="4323858"/>
              <a:ext cx="6537960" cy="91440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REST API &amp; DATABASE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Web → REST APIs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 Data JPA → MySQL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API exposure and entity-based database operations</a:t>
              </a:r>
              <a:endParaRPr lang="en-IN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F9F0349-BEC7-AFE1-0DB6-A4384E3EC3F2}"/>
                </a:ext>
              </a:extLst>
            </p:cNvPr>
            <p:cNvSpPr/>
            <p:nvPr/>
          </p:nvSpPr>
          <p:spPr>
            <a:xfrm>
              <a:off x="7606332" y="4323858"/>
              <a:ext cx="3803904" cy="914400"/>
            </a:xfrm>
            <a:prstGeom prst="roundRect">
              <a:avLst/>
            </a:prstGeom>
            <a:solidFill>
              <a:srgbClr val="FCF2F2"/>
            </a:solidFill>
            <a:ln>
              <a:solidFill>
                <a:srgbClr val="FC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B2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SUPPORTING TOOLS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ModelMapper • Lombok</a:t>
              </a:r>
              <a:b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IN" dirty="0" err="1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Springdoc-OpenAPI</a:t>
              </a:r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/ Swagger</a:t>
              </a:r>
            </a:p>
            <a:p>
              <a:pPr algn="ctr"/>
              <a:r>
                <a:rPr lang="en-IN" dirty="0">
                  <a:solidFill>
                    <a:srgbClr val="4D4D4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Mapping • Boilerplate reduction • API docs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3478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297613" y="485212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4.1 Time Line Chart</a:t>
            </a:r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12783F-E9F6-E2EB-1924-247A3C81E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3013"/>
              </p:ext>
            </p:extLst>
          </p:nvPr>
        </p:nvGraphicFramePr>
        <p:xfrm>
          <a:off x="1750141" y="1390309"/>
          <a:ext cx="9027926" cy="4611429"/>
        </p:xfrm>
        <a:graphic>
          <a:graphicData uri="http://schemas.openxmlformats.org/drawingml/2006/table">
            <a:tbl>
              <a:tblPr firstRow="1" firstCol="1" bandRow="1"/>
              <a:tblGrid>
                <a:gridCol w="441084">
                  <a:extLst>
                    <a:ext uri="{9D8B030D-6E8A-4147-A177-3AD203B41FA5}">
                      <a16:colId xmlns:a16="http://schemas.microsoft.com/office/drawing/2014/main" val="3505928921"/>
                    </a:ext>
                  </a:extLst>
                </a:gridCol>
                <a:gridCol w="1177272">
                  <a:extLst>
                    <a:ext uri="{9D8B030D-6E8A-4147-A177-3AD203B41FA5}">
                      <a16:colId xmlns:a16="http://schemas.microsoft.com/office/drawing/2014/main" val="3863763710"/>
                    </a:ext>
                  </a:extLst>
                </a:gridCol>
                <a:gridCol w="490792">
                  <a:extLst>
                    <a:ext uri="{9D8B030D-6E8A-4147-A177-3AD203B41FA5}">
                      <a16:colId xmlns:a16="http://schemas.microsoft.com/office/drawing/2014/main" val="832727930"/>
                    </a:ext>
                  </a:extLst>
                </a:gridCol>
                <a:gridCol w="591792">
                  <a:extLst>
                    <a:ext uri="{9D8B030D-6E8A-4147-A177-3AD203B41FA5}">
                      <a16:colId xmlns:a16="http://schemas.microsoft.com/office/drawing/2014/main" val="4193280468"/>
                    </a:ext>
                  </a:extLst>
                </a:gridCol>
                <a:gridCol w="669120">
                  <a:extLst>
                    <a:ext uri="{9D8B030D-6E8A-4147-A177-3AD203B41FA5}">
                      <a16:colId xmlns:a16="http://schemas.microsoft.com/office/drawing/2014/main" val="3844958877"/>
                    </a:ext>
                  </a:extLst>
                </a:gridCol>
                <a:gridCol w="441084">
                  <a:extLst>
                    <a:ext uri="{9D8B030D-6E8A-4147-A177-3AD203B41FA5}">
                      <a16:colId xmlns:a16="http://schemas.microsoft.com/office/drawing/2014/main" val="2538065122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2970521971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343778376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243530914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2448791156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2808465247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2913243269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1345552725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1064926622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629709155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2004397340"/>
                    </a:ext>
                  </a:extLst>
                </a:gridCol>
                <a:gridCol w="373224">
                  <a:extLst>
                    <a:ext uri="{9D8B030D-6E8A-4147-A177-3AD203B41FA5}">
                      <a16:colId xmlns:a16="http://schemas.microsoft.com/office/drawing/2014/main" val="1902537756"/>
                    </a:ext>
                  </a:extLst>
                </a:gridCol>
                <a:gridCol w="490792">
                  <a:extLst>
                    <a:ext uri="{9D8B030D-6E8A-4147-A177-3AD203B41FA5}">
                      <a16:colId xmlns:a16="http://schemas.microsoft.com/office/drawing/2014/main" val="1602046085"/>
                    </a:ext>
                  </a:extLst>
                </a:gridCol>
                <a:gridCol w="620526">
                  <a:extLst>
                    <a:ext uri="{9D8B030D-6E8A-4147-A177-3AD203B41FA5}">
                      <a16:colId xmlns:a16="http://schemas.microsoft.com/office/drawing/2014/main" val="3518896273"/>
                    </a:ext>
                  </a:extLst>
                </a:gridCol>
              </a:tblGrid>
              <a:tr h="321384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Task Name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Start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Finish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Duration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Jul-2026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Aug-2026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Sep-2026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41564" marB="4156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Oct-2026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332274"/>
                  </a:ext>
                </a:extLst>
              </a:tr>
              <a:tr h="58905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6-Jul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13-Jul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20-Jul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27-Jul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3-Aug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10-Aug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17-Aug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24-Aug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31-Aug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7-Sep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14-Sep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21-Sep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28-Sep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71755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03-Oct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708320"/>
                  </a:ext>
                </a:extLst>
              </a:tr>
              <a:tr h="4911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Planning &amp; Requirement Analysis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06-07-2026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15-07-2026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 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919732"/>
                  </a:ext>
                </a:extLst>
              </a:tr>
              <a:tr h="6584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Backend Development – Authentication &amp; User Module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16-07-2026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04-08-2026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20 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468315"/>
                  </a:ext>
                </a:extLst>
              </a:tr>
              <a:tr h="4911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Backend Development – Video Module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05-08-2026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22-08-2026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en-IN" sz="1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12791"/>
                  </a:ext>
                </a:extLst>
              </a:tr>
              <a:tr h="6584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Backend Development – Admin, Comment &amp; Feedback Modules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23-08-2026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03-09-2026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 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404014"/>
                  </a:ext>
                </a:extLst>
              </a:tr>
              <a:tr h="4308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Frontend Development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04-09-2026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21-09-2026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en-IN" sz="1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115115"/>
                  </a:ext>
                </a:extLst>
              </a:tr>
              <a:tr h="4308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Integration &amp; Testing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22-09-2026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28-10-2026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7 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3628"/>
                  </a:ext>
                </a:extLst>
              </a:tr>
              <a:tr h="4308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7.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kern="12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Deployment &amp; Documentation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29-10-2026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03-10-2026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0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Days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IN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307" marR="473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5062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00EB1F7C-E17E-2375-9941-15BF9902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>
            <a:extLst>
              <a:ext uri="{FF2B5EF4-FFF2-40B4-BE49-F238E27FC236}">
                <a16:creationId xmlns:a16="http://schemas.microsoft.com/office/drawing/2014/main" id="{E7F0D562-D219-C559-73C2-C23BAFFD80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4.2 Data Dictionary</a:t>
            </a:r>
            <a:endParaRPr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8EC7B0-BA36-D5AA-3A02-834E9782E770}"/>
              </a:ext>
            </a:extLst>
          </p:cNvPr>
          <p:cNvSpPr/>
          <p:nvPr/>
        </p:nvSpPr>
        <p:spPr>
          <a:xfrm>
            <a:off x="2396964" y="1488087"/>
            <a:ext cx="1229032" cy="452284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Table: User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B8DD88-ACD8-1634-90B9-43D771D62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355078"/>
              </p:ext>
            </p:extLst>
          </p:nvPr>
        </p:nvGraphicFramePr>
        <p:xfrm>
          <a:off x="415600" y="2071591"/>
          <a:ext cx="5191760" cy="3680968"/>
        </p:xfrm>
        <a:graphic>
          <a:graphicData uri="http://schemas.openxmlformats.org/drawingml/2006/table">
            <a:tbl>
              <a:tblPr firstRow="1" firstCol="1" bandRow="1"/>
              <a:tblGrid>
                <a:gridCol w="734060">
                  <a:extLst>
                    <a:ext uri="{9D8B030D-6E8A-4147-A177-3AD203B41FA5}">
                      <a16:colId xmlns:a16="http://schemas.microsoft.com/office/drawing/2014/main" val="1774320835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1289328521"/>
                    </a:ext>
                  </a:extLst>
                </a:gridCol>
                <a:gridCol w="1477010">
                  <a:extLst>
                    <a:ext uri="{9D8B030D-6E8A-4147-A177-3AD203B41FA5}">
                      <a16:colId xmlns:a16="http://schemas.microsoft.com/office/drawing/2014/main" val="3179323007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484028044"/>
                    </a:ext>
                  </a:extLst>
                </a:gridCol>
              </a:tblGrid>
              <a:tr h="2965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75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UUID (CHAR 36)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of the user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099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user_email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 (300)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UNIQUE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Email address used for login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370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 (255)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Full name of the user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03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password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 (255)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 (for OAuth users)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BCrypt-hashed password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enable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Boolean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DEFAULT true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Whether the account is active (enabled after OTP verification)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481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provider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Enum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DEFAULT 'LOCAL'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Source of account: LOCAL / GOOGLE / GITHUB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898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providerId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 (255)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user ID from the OAuth provider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createdAt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Registration date (auto-generated)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201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updatedAt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Last update time (auto-generated)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495152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C75C21-5E7E-A3BB-B520-F7A2F49C413A}"/>
              </a:ext>
            </a:extLst>
          </p:cNvPr>
          <p:cNvSpPr/>
          <p:nvPr/>
        </p:nvSpPr>
        <p:spPr>
          <a:xfrm>
            <a:off x="7784341" y="1488087"/>
            <a:ext cx="1389156" cy="452284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Table: roles</a:t>
            </a:r>
            <a:endParaRPr lang="en-IN" sz="16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607CFFC-EF5F-85BC-4115-FD7D2691C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60366"/>
              </p:ext>
            </p:extLst>
          </p:nvPr>
        </p:nvGraphicFramePr>
        <p:xfrm>
          <a:off x="6095950" y="2071591"/>
          <a:ext cx="5029200" cy="1034542"/>
        </p:xfrm>
        <a:graphic>
          <a:graphicData uri="http://schemas.openxmlformats.org/drawingml/2006/table">
            <a:tbl>
              <a:tblPr firstRow="1" firstCol="1" bandRow="1"/>
              <a:tblGrid>
                <a:gridCol w="562610">
                  <a:extLst>
                    <a:ext uri="{9D8B030D-6E8A-4147-A177-3AD203B41FA5}">
                      <a16:colId xmlns:a16="http://schemas.microsoft.com/office/drawing/2014/main" val="2705119115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3666215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697265590"/>
                    </a:ext>
                  </a:extLst>
                </a:gridCol>
                <a:gridCol w="2123440">
                  <a:extLst>
                    <a:ext uri="{9D8B030D-6E8A-4147-A177-3AD203B41FA5}">
                      <a16:colId xmlns:a16="http://schemas.microsoft.com/office/drawing/2014/main" val="346367247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347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UUID (CHAR 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for each video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782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 (255)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UNIQUE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 of the role (ROLE_USER, ROLE_ADMIN)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33368"/>
                  </a:ext>
                </a:extLst>
              </a:tr>
            </a:tbl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0908A5-B514-B5C4-570A-DC9BB940AAAD}"/>
              </a:ext>
            </a:extLst>
          </p:cNvPr>
          <p:cNvSpPr/>
          <p:nvPr/>
        </p:nvSpPr>
        <p:spPr>
          <a:xfrm>
            <a:off x="7497801" y="3299584"/>
            <a:ext cx="2049322" cy="452284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Table: feedbacks</a:t>
            </a:r>
            <a:endParaRPr lang="en-IN" sz="1600" dirty="0">
              <a:solidFill>
                <a:schemeClr val="tx1"/>
              </a:solidFill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6672B07-330E-C97C-3E5C-A7EE515B8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30692"/>
              </p:ext>
            </p:extLst>
          </p:nvPr>
        </p:nvGraphicFramePr>
        <p:xfrm>
          <a:off x="6043245" y="3896581"/>
          <a:ext cx="5134610" cy="1855978"/>
        </p:xfrm>
        <a:graphic>
          <a:graphicData uri="http://schemas.openxmlformats.org/drawingml/2006/table">
            <a:tbl>
              <a:tblPr firstRow="1" firstCol="1" bandRow="1"/>
              <a:tblGrid>
                <a:gridCol w="791210">
                  <a:extLst>
                    <a:ext uri="{9D8B030D-6E8A-4147-A177-3AD203B41FA5}">
                      <a16:colId xmlns:a16="http://schemas.microsoft.com/office/drawing/2014/main" val="1643964141"/>
                    </a:ext>
                  </a:extLst>
                </a:gridCol>
                <a:gridCol w="1037590">
                  <a:extLst>
                    <a:ext uri="{9D8B030D-6E8A-4147-A177-3AD203B41FA5}">
                      <a16:colId xmlns:a16="http://schemas.microsoft.com/office/drawing/2014/main" val="1128547739"/>
                    </a:ext>
                  </a:extLst>
                </a:gridCol>
                <a:gridCol w="1248410">
                  <a:extLst>
                    <a:ext uri="{9D8B030D-6E8A-4147-A177-3AD203B41FA5}">
                      <a16:colId xmlns:a16="http://schemas.microsoft.com/office/drawing/2014/main" val="68909568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194140203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428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of the feedback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073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message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VARCHAR(1000)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Feedback text of the user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18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FK → users(user_id)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 who submitted the feedback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29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Submission date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285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updated_at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Last update time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690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02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389B1CB5-F973-A9A6-A4B2-2087A649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>
            <a:extLst>
              <a:ext uri="{FF2B5EF4-FFF2-40B4-BE49-F238E27FC236}">
                <a16:creationId xmlns:a16="http://schemas.microsoft.com/office/drawing/2014/main" id="{12028501-D132-7DEB-F777-B09A2B088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4.2 Data Dictionary</a:t>
            </a:r>
            <a:endParaRPr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D44301-619A-C9B3-092E-A896DDF01F84}"/>
              </a:ext>
            </a:extLst>
          </p:cNvPr>
          <p:cNvSpPr/>
          <p:nvPr/>
        </p:nvSpPr>
        <p:spPr>
          <a:xfrm>
            <a:off x="1814756" y="1470783"/>
            <a:ext cx="1852676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880" algn="ctr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Table: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yt_video</a:t>
            </a:r>
            <a:endParaRPr lang="en-IN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CB9202-C433-A385-7497-02FEC2883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137726"/>
              </p:ext>
            </p:extLst>
          </p:nvPr>
        </p:nvGraphicFramePr>
        <p:xfrm>
          <a:off x="668429" y="2041038"/>
          <a:ext cx="5191760" cy="3977514"/>
        </p:xfrm>
        <a:graphic>
          <a:graphicData uri="http://schemas.openxmlformats.org/drawingml/2006/table">
            <a:tbl>
              <a:tblPr firstRow="1" firstCol="1" bandRow="1"/>
              <a:tblGrid>
                <a:gridCol w="815340">
                  <a:extLst>
                    <a:ext uri="{9D8B030D-6E8A-4147-A177-3AD203B41FA5}">
                      <a16:colId xmlns:a16="http://schemas.microsoft.com/office/drawing/2014/main" val="308923108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30100425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4269947473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1255126013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32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video_id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for each video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509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VARCHAR(255)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Title of the uploaded video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308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Short description of the video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contentType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VARCHAR(255)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MIME type of the uploaded video file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7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VARCHAR(50)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DEFAULT 'other'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Category name of the video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311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filePath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VARCHAR(255)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Path where the video / HLS files are stored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1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view_count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BIGINT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DEFAULT 0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Total views (denormalized for faster reads)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521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FK → users(</a:t>
                      </a:r>
                      <a:r>
                        <a:rPr lang="en-US" sz="105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Uploader / owner of the video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72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createdAt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 when the video was uploaded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725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updated_at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Last update time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662097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D94167-CFAD-D16F-914E-B054671D3C6D}"/>
              </a:ext>
            </a:extLst>
          </p:cNvPr>
          <p:cNvSpPr/>
          <p:nvPr/>
        </p:nvSpPr>
        <p:spPr>
          <a:xfrm>
            <a:off x="7768187" y="1460950"/>
            <a:ext cx="1955915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Table: </a:t>
            </a:r>
            <a:r>
              <a:rPr lang="en-US" sz="1600" b="1" dirty="0" err="1">
                <a:solidFill>
                  <a:schemeClr val="tx1"/>
                </a:solidFill>
              </a:rPr>
              <a:t>user_roles</a:t>
            </a:r>
            <a:endParaRPr lang="en-IN" sz="1600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9BCFCC-E99F-E15B-A9C5-6DBFB99AA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23269"/>
              </p:ext>
            </p:extLst>
          </p:nvPr>
        </p:nvGraphicFramePr>
        <p:xfrm>
          <a:off x="6179926" y="2041036"/>
          <a:ext cx="5029200" cy="866903"/>
        </p:xfrm>
        <a:graphic>
          <a:graphicData uri="http://schemas.openxmlformats.org/drawingml/2006/table">
            <a:tbl>
              <a:tblPr firstRow="1" firstCol="1" bandRow="1"/>
              <a:tblGrid>
                <a:gridCol w="905510">
                  <a:extLst>
                    <a:ext uri="{9D8B030D-6E8A-4147-A177-3AD203B41FA5}">
                      <a16:colId xmlns:a16="http://schemas.microsoft.com/office/drawing/2014/main" val="399166829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6167670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35873807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229298409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923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PK, FK → users(user_id)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Reference to the user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435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role_id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PK, FK → roles(id)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Reference to the role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44029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ED315F-CAB7-650E-2014-60BF883D331F}"/>
              </a:ext>
            </a:extLst>
          </p:cNvPr>
          <p:cNvSpPr/>
          <p:nvPr/>
        </p:nvSpPr>
        <p:spPr>
          <a:xfrm>
            <a:off x="7768188" y="3082155"/>
            <a:ext cx="1955914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Table: categories</a:t>
            </a:r>
            <a:endParaRPr lang="en-IN" sz="16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CADF726-807C-FFD1-B0C3-C41AEECA2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2736"/>
              </p:ext>
            </p:extLst>
          </p:nvPr>
        </p:nvGraphicFramePr>
        <p:xfrm>
          <a:off x="6179926" y="3706009"/>
          <a:ext cx="5191760" cy="2312543"/>
        </p:xfrm>
        <a:graphic>
          <a:graphicData uri="http://schemas.openxmlformats.org/drawingml/2006/table">
            <a:tbl>
              <a:tblPr firstRow="1" firstCol="1" bandRow="1"/>
              <a:tblGrid>
                <a:gridCol w="791210">
                  <a:extLst>
                    <a:ext uri="{9D8B030D-6E8A-4147-A177-3AD203B41FA5}">
                      <a16:colId xmlns:a16="http://schemas.microsoft.com/office/drawing/2014/main" val="2273532485"/>
                    </a:ext>
                  </a:extLst>
                </a:gridCol>
                <a:gridCol w="1037590">
                  <a:extLst>
                    <a:ext uri="{9D8B030D-6E8A-4147-A177-3AD203B41FA5}">
                      <a16:colId xmlns:a16="http://schemas.microsoft.com/office/drawing/2014/main" val="607494189"/>
                    </a:ext>
                  </a:extLst>
                </a:gridCol>
                <a:gridCol w="1215390">
                  <a:extLst>
                    <a:ext uri="{9D8B030D-6E8A-4147-A177-3AD203B41FA5}">
                      <a16:colId xmlns:a16="http://schemas.microsoft.com/office/drawing/2014/main" val="333938307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2149957304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741775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of the category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354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VARCHAR(100)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NULL,UNIQUE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 of the category (e.g., Music, Education)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535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slug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VARCHAR(100)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UNIQUE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URL-friendly name (e.g., music)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44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VARCHAR(500)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Short description of the category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081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Creation date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55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updated_at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Last update time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18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561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974D7C23-BD12-A125-590F-48A0F291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>
            <a:extLst>
              <a:ext uri="{FF2B5EF4-FFF2-40B4-BE49-F238E27FC236}">
                <a16:creationId xmlns:a16="http://schemas.microsoft.com/office/drawing/2014/main" id="{E92B3398-B2F0-C75D-88FE-358A2A25B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4.2 Data Dictionary</a:t>
            </a:r>
            <a:endParaRPr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41F592-78BF-84D1-5805-6C0611E5ED2F}"/>
              </a:ext>
            </a:extLst>
          </p:cNvPr>
          <p:cNvSpPr/>
          <p:nvPr/>
        </p:nvSpPr>
        <p:spPr>
          <a:xfrm>
            <a:off x="2308475" y="1464581"/>
            <a:ext cx="1852676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Table: comments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E126B2-79F4-108D-BABA-CE7BF1CA2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30270"/>
              </p:ext>
            </p:extLst>
          </p:nvPr>
        </p:nvGraphicFramePr>
        <p:xfrm>
          <a:off x="638933" y="2028634"/>
          <a:ext cx="5191760" cy="2800731"/>
        </p:xfrm>
        <a:graphic>
          <a:graphicData uri="http://schemas.openxmlformats.org/drawingml/2006/table">
            <a:tbl>
              <a:tblPr firstRow="1" firstCol="1" bandRow="1"/>
              <a:tblGrid>
                <a:gridCol w="791210">
                  <a:extLst>
                    <a:ext uri="{9D8B030D-6E8A-4147-A177-3AD203B41FA5}">
                      <a16:colId xmlns:a16="http://schemas.microsoft.com/office/drawing/2014/main" val="619275510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34292814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483905042"/>
                    </a:ext>
                  </a:extLst>
                </a:gridCol>
                <a:gridCol w="2147570">
                  <a:extLst>
                    <a:ext uri="{9D8B030D-6E8A-4147-A177-3AD203B41FA5}">
                      <a16:colId xmlns:a16="http://schemas.microsoft.com/office/drawing/2014/main" val="1601812965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72026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of the comment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8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text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VARCHAR(100)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Content of the comment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643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FK 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MS Mincho" panose="02020609040205080304" pitchFamily="49" charset="-128"/>
                          <a:ea typeface="MS Mincho" panose="02020609040205080304" pitchFamily="49" charset="-128"/>
                          <a:cs typeface="Calibri" panose="020F0502020204030204" pitchFamily="34" charset="0"/>
                        </a:rPr>
                        <a:t>→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users(user_id)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 who posted the comment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247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video_id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FK → yt_video(video_id)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Video on which the comment was posted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78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parent_comment_id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NULL, FK → comments(id)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Parent comment for replies (NULL = top-level comment)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61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Comment date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3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updated_at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Last update time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792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3DEE72-CD23-1D14-6801-54AB85382DFF}"/>
              </a:ext>
            </a:extLst>
          </p:cNvPr>
          <p:cNvSpPr/>
          <p:nvPr/>
        </p:nvSpPr>
        <p:spPr>
          <a:xfrm>
            <a:off x="7819455" y="1464580"/>
            <a:ext cx="2150454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Table: </a:t>
            </a:r>
            <a:r>
              <a:rPr lang="en-US" b="1" dirty="0" err="1">
                <a:solidFill>
                  <a:schemeClr val="tx1"/>
                </a:solidFill>
              </a:rPr>
              <a:t>refresh_tokens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92E448E-0924-262A-8CEF-EBD6AE5E2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537774"/>
              </p:ext>
            </p:extLst>
          </p:nvPr>
        </p:nvGraphicFramePr>
        <p:xfrm>
          <a:off x="6301024" y="2028632"/>
          <a:ext cx="5187315" cy="3229483"/>
        </p:xfrm>
        <a:graphic>
          <a:graphicData uri="http://schemas.openxmlformats.org/drawingml/2006/table">
            <a:tbl>
              <a:tblPr firstRow="1" firstCol="1" bandRow="1"/>
              <a:tblGrid>
                <a:gridCol w="791210">
                  <a:extLst>
                    <a:ext uri="{9D8B030D-6E8A-4147-A177-3AD203B41FA5}">
                      <a16:colId xmlns:a16="http://schemas.microsoft.com/office/drawing/2014/main" val="47025565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74275750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070666427"/>
                    </a:ext>
                  </a:extLst>
                </a:gridCol>
                <a:gridCol w="2167255">
                  <a:extLst>
                    <a:ext uri="{9D8B030D-6E8A-4147-A177-3AD203B41FA5}">
                      <a16:colId xmlns:a16="http://schemas.microsoft.com/office/drawing/2014/main" val="476172825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95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of the token record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40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jti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VARCHAR(255)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UNIQUE, UPDATABLE-FALSE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JWT ID — identity of the token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8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FK → users(user_id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 to whom the token belongs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96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expires_at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Expiry time of the token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73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revoked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BOOLEAN (TINYINT 1)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DEFAULT false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Whether the token is revoked (set true on logout/rotation)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40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replaced_by_token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VARCHAR(255)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Reference to the new token after rotation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66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Token issue date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67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updated_at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Last update time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963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11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D0FE287A-3A8F-6C32-34C9-A6512AF1C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>
            <a:extLst>
              <a:ext uri="{FF2B5EF4-FFF2-40B4-BE49-F238E27FC236}">
                <a16:creationId xmlns:a16="http://schemas.microsoft.com/office/drawing/2014/main" id="{0410E5E6-7746-D00E-E515-62E739EE69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4.2 Data Dictionary</a:t>
            </a:r>
            <a:endParaRPr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F6F3B1-5894-DAC3-CBE4-1AE8779B455A}"/>
              </a:ext>
            </a:extLst>
          </p:cNvPr>
          <p:cNvSpPr/>
          <p:nvPr/>
        </p:nvSpPr>
        <p:spPr>
          <a:xfrm>
            <a:off x="4900278" y="1533407"/>
            <a:ext cx="2391344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Table: </a:t>
            </a:r>
            <a:r>
              <a:rPr lang="en-US" sz="1600" b="1" dirty="0" err="1">
                <a:solidFill>
                  <a:schemeClr val="tx1"/>
                </a:solidFill>
              </a:rPr>
              <a:t>video_views</a:t>
            </a:r>
            <a:endParaRPr lang="en-IN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40D998-1CBD-9202-F11F-3855C4474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156990"/>
              </p:ext>
            </p:extLst>
          </p:nvPr>
        </p:nvGraphicFramePr>
        <p:xfrm>
          <a:off x="2595716" y="2349910"/>
          <a:ext cx="7000567" cy="3323303"/>
        </p:xfrm>
        <a:graphic>
          <a:graphicData uri="http://schemas.openxmlformats.org/drawingml/2006/table">
            <a:tbl>
              <a:tblPr firstRow="1" firstCol="1" bandRow="1"/>
              <a:tblGrid>
                <a:gridCol w="1021800">
                  <a:extLst>
                    <a:ext uri="{9D8B030D-6E8A-4147-A177-3AD203B41FA5}">
                      <a16:colId xmlns:a16="http://schemas.microsoft.com/office/drawing/2014/main" val="1310995688"/>
                    </a:ext>
                  </a:extLst>
                </a:gridCol>
                <a:gridCol w="1113727">
                  <a:extLst>
                    <a:ext uri="{9D8B030D-6E8A-4147-A177-3AD203B41FA5}">
                      <a16:colId xmlns:a16="http://schemas.microsoft.com/office/drawing/2014/main" val="302955882"/>
                    </a:ext>
                  </a:extLst>
                </a:gridCol>
                <a:gridCol w="1988797">
                  <a:extLst>
                    <a:ext uri="{9D8B030D-6E8A-4147-A177-3AD203B41FA5}">
                      <a16:colId xmlns:a16="http://schemas.microsoft.com/office/drawing/2014/main" val="1528035529"/>
                    </a:ext>
                  </a:extLst>
                </a:gridCol>
                <a:gridCol w="2876243">
                  <a:extLst>
                    <a:ext uri="{9D8B030D-6E8A-4147-A177-3AD203B41FA5}">
                      <a16:colId xmlns:a16="http://schemas.microsoft.com/office/drawing/2014/main" val="2750823366"/>
                    </a:ext>
                  </a:extLst>
                </a:gridCol>
              </a:tblGrid>
              <a:tr h="5677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Field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7150" marB="5715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523235"/>
                  </a:ext>
                </a:extLst>
              </a:tr>
              <a:tr h="3584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BIGINT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Primary Key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Unique identifier of the view record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591848"/>
                  </a:ext>
                </a:extLst>
              </a:tr>
              <a:tr h="599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video_id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FK → yt_video(video_id)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Which video was viewed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007208"/>
                  </a:ext>
                </a:extLst>
              </a:tr>
              <a:tr h="599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user_id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CHAR(36)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NULL, FK → users(user_id)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Logged-in user (NULL for guests)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757821"/>
                  </a:ext>
                </a:extLst>
              </a:tr>
              <a:tr h="599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viewer_ip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VARCHAR(45)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NULL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IP address of guest viewers (used for repeat-view detection)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569"/>
                  </a:ext>
                </a:extLst>
              </a:tr>
              <a:tr h="599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viewed_at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TIMESTAMP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NOT NULL, UPDATABLE-FALSE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Time of the view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035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903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4.3 ER Diagram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20CC4-7C20-E998-573B-931A0549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167" y="1356867"/>
            <a:ext cx="7577667" cy="48063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4.4.1 Use Case Diagrams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FEAF7-DC7B-3501-A536-017DF201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78" y="1448313"/>
            <a:ext cx="8587845" cy="44307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4.4.2 Activity Diagrams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43557-31DA-86CC-EA47-81FF9C6995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37" b="713"/>
          <a:stretch>
            <a:fillRect/>
          </a:stretch>
        </p:blipFill>
        <p:spPr>
          <a:xfrm>
            <a:off x="2896364" y="1356867"/>
            <a:ext cx="6399271" cy="471373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FA6C827-90EA-D98D-31DB-58C3B9768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AB3F24C9-F31A-C6BC-D78A-AB63AB205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4.4.2 Activity Diagrams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6A5B8-9020-27C3-1604-EEF4032AB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56867"/>
            <a:ext cx="9785248" cy="463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7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85A238B2-1180-0861-9CAF-B90E7C523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16BB447E-689B-02A5-D379-713F513462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4.4.2 Activity Diagrams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18012-65EE-468F-4831-B34AD0BFA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58" y="1266373"/>
            <a:ext cx="10366283" cy="46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43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919F49E-A247-3CF5-8EF3-90E43921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1A816545-B60F-D158-D197-E68A1846A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4.4.3 Sequence Diagrams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56C6BD-4643-0D67-44B9-3F9C65B4C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476" y="1455174"/>
            <a:ext cx="4707048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91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AFE5B848-3066-B747-4DFB-7C251AF3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350BB862-E68E-73B8-AB71-164C814F7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4.4.3 Sequence Diagrams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E93BA-74CB-E426-AA37-B1A51D8A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605" y="1356866"/>
            <a:ext cx="5602029" cy="470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63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26B8BF0-5F46-CB3E-CC18-72FBD078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FF71C9B3-6682-6D80-AF4A-EC8720751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4.4.3 Sequence Diagrams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D9FB17-2C93-0794-5C6A-46234661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629" y="1366699"/>
            <a:ext cx="5146741" cy="46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48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4.4.4 Collaboration Diagrams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06276-7694-48C4-C365-DE570DCDE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392" y="1407027"/>
            <a:ext cx="7875215" cy="441074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4.4.5 Class Diagrams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F72B52-34EA-883C-5FD5-C43CC27B4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690" y="1520017"/>
            <a:ext cx="10382865" cy="44776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4.5 Input Design</a:t>
            </a:r>
            <a:endParaRPr/>
          </a:p>
        </p:txBody>
      </p:sp>
      <p:sp>
        <p:nvSpPr>
          <p:cNvPr id="3" name="Rounded Rectangle 227">
            <a:extLst>
              <a:ext uri="{FF2B5EF4-FFF2-40B4-BE49-F238E27FC236}">
                <a16:creationId xmlns:a16="http://schemas.microsoft.com/office/drawing/2014/main" id="{78241779-3624-09C9-BA27-9C15D1D77BF7}"/>
              </a:ext>
            </a:extLst>
          </p:cNvPr>
          <p:cNvSpPr/>
          <p:nvPr/>
        </p:nvSpPr>
        <p:spPr>
          <a:xfrm>
            <a:off x="868680" y="1874519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28">
            <a:extLst>
              <a:ext uri="{FF2B5EF4-FFF2-40B4-BE49-F238E27FC236}">
                <a16:creationId xmlns:a16="http://schemas.microsoft.com/office/drawing/2014/main" id="{E70A2205-908B-BC16-9038-E9747C086C6E}"/>
              </a:ext>
            </a:extLst>
          </p:cNvPr>
          <p:cNvSpPr/>
          <p:nvPr/>
        </p:nvSpPr>
        <p:spPr>
          <a:xfrm>
            <a:off x="1033271" y="210312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97F28-DA05-BA99-46FF-5253D52B01F9}"/>
              </a:ext>
            </a:extLst>
          </p:cNvPr>
          <p:cNvSpPr txBox="1"/>
          <p:nvPr/>
        </p:nvSpPr>
        <p:spPr>
          <a:xfrm>
            <a:off x="1280160" y="2020488"/>
            <a:ext cx="1016625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2FCE0-CE8A-D1F2-1BFB-966B4E7135AF}"/>
              </a:ext>
            </a:extLst>
          </p:cNvPr>
          <p:cNvSpPr txBox="1"/>
          <p:nvPr/>
        </p:nvSpPr>
        <p:spPr>
          <a:xfrm>
            <a:off x="1280160" y="2468879"/>
            <a:ext cx="4251960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B2B2B"/>
                </a:solidFill>
                <a:latin typeface="Arial"/>
              </a:defRPr>
            </a:pPr>
            <a:r>
              <a:rPr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data entry simple, consistent and easy to understand.</a:t>
            </a:r>
            <a:br>
              <a:rPr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using React.js and Tailwind CSS.</a:t>
            </a:r>
          </a:p>
        </p:txBody>
      </p:sp>
      <p:sp>
        <p:nvSpPr>
          <p:cNvPr id="11" name="Rounded Rectangle 231">
            <a:extLst>
              <a:ext uri="{FF2B5EF4-FFF2-40B4-BE49-F238E27FC236}">
                <a16:creationId xmlns:a16="http://schemas.microsoft.com/office/drawing/2014/main" id="{253B4BD4-DA62-3821-F1D5-8104416C52EF}"/>
              </a:ext>
            </a:extLst>
          </p:cNvPr>
          <p:cNvSpPr/>
          <p:nvPr/>
        </p:nvSpPr>
        <p:spPr>
          <a:xfrm>
            <a:off x="6080760" y="1874519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32">
            <a:extLst>
              <a:ext uri="{FF2B5EF4-FFF2-40B4-BE49-F238E27FC236}">
                <a16:creationId xmlns:a16="http://schemas.microsoft.com/office/drawing/2014/main" id="{EAE17009-B0E5-6BA8-7A64-E9F4567B180F}"/>
              </a:ext>
            </a:extLst>
          </p:cNvPr>
          <p:cNvSpPr/>
          <p:nvPr/>
        </p:nvSpPr>
        <p:spPr>
          <a:xfrm>
            <a:off x="6245352" y="210312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036192-E5AD-03F0-FD5B-9165A411FDE6}"/>
              </a:ext>
            </a:extLst>
          </p:cNvPr>
          <p:cNvSpPr txBox="1"/>
          <p:nvPr/>
        </p:nvSpPr>
        <p:spPr>
          <a:xfrm>
            <a:off x="6492240" y="2028182"/>
            <a:ext cx="188705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Input Forms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FDBFE5-C15E-B60D-1EAC-3123A12084F3}"/>
              </a:ext>
            </a:extLst>
          </p:cNvPr>
          <p:cNvSpPr txBox="1"/>
          <p:nvPr/>
        </p:nvSpPr>
        <p:spPr>
          <a:xfrm>
            <a:off x="6492239" y="2468879"/>
            <a:ext cx="4572001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 • OTP Verification • User/Admin Login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Upload/Edit • Comments • Feedback • Category • Search</a:t>
            </a:r>
          </a:p>
        </p:txBody>
      </p:sp>
      <p:sp>
        <p:nvSpPr>
          <p:cNvPr id="19" name="Rounded Rectangle 235">
            <a:extLst>
              <a:ext uri="{FF2B5EF4-FFF2-40B4-BE49-F238E27FC236}">
                <a16:creationId xmlns:a16="http://schemas.microsoft.com/office/drawing/2014/main" id="{C160B7E5-DB66-A0B4-EA9D-8363BE7BC3AA}"/>
              </a:ext>
            </a:extLst>
          </p:cNvPr>
          <p:cNvSpPr/>
          <p:nvPr/>
        </p:nvSpPr>
        <p:spPr>
          <a:xfrm>
            <a:off x="868680" y="4069080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36">
            <a:extLst>
              <a:ext uri="{FF2B5EF4-FFF2-40B4-BE49-F238E27FC236}">
                <a16:creationId xmlns:a16="http://schemas.microsoft.com/office/drawing/2014/main" id="{49CC6367-D91C-CA18-A121-54FC116356FC}"/>
              </a:ext>
            </a:extLst>
          </p:cNvPr>
          <p:cNvSpPr/>
          <p:nvPr/>
        </p:nvSpPr>
        <p:spPr>
          <a:xfrm>
            <a:off x="1033271" y="429768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C8FCB1-B125-6E8A-E0CD-E73BDDA47B04}"/>
              </a:ext>
            </a:extLst>
          </p:cNvPr>
          <p:cNvSpPr txBox="1"/>
          <p:nvPr/>
        </p:nvSpPr>
        <p:spPr>
          <a:xfrm>
            <a:off x="1280160" y="4215048"/>
            <a:ext cx="1226618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2D47-53C0-6F59-716B-C243F8A49FA6}"/>
              </a:ext>
            </a:extLst>
          </p:cNvPr>
          <p:cNvSpPr txBox="1"/>
          <p:nvPr/>
        </p:nvSpPr>
        <p:spPr>
          <a:xfrm>
            <a:off x="1280160" y="4663440"/>
            <a:ext cx="425196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are checked before submission.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Client-side validation in React and server-side validation in Spring Boot reduce invalid data.</a:t>
            </a:r>
          </a:p>
        </p:txBody>
      </p:sp>
      <p:sp>
        <p:nvSpPr>
          <p:cNvPr id="27" name="Rounded Rectangle 239">
            <a:extLst>
              <a:ext uri="{FF2B5EF4-FFF2-40B4-BE49-F238E27FC236}">
                <a16:creationId xmlns:a16="http://schemas.microsoft.com/office/drawing/2014/main" id="{DE166789-BF51-2E5F-C7FD-9FB9ADC9A392}"/>
              </a:ext>
            </a:extLst>
          </p:cNvPr>
          <p:cNvSpPr/>
          <p:nvPr/>
        </p:nvSpPr>
        <p:spPr>
          <a:xfrm>
            <a:off x="6080760" y="4069080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40">
            <a:extLst>
              <a:ext uri="{FF2B5EF4-FFF2-40B4-BE49-F238E27FC236}">
                <a16:creationId xmlns:a16="http://schemas.microsoft.com/office/drawing/2014/main" id="{491510AD-FBEB-21C0-DD39-8259D4FC7FE5}"/>
              </a:ext>
            </a:extLst>
          </p:cNvPr>
          <p:cNvSpPr/>
          <p:nvPr/>
        </p:nvSpPr>
        <p:spPr>
          <a:xfrm>
            <a:off x="6245352" y="429768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A5FD52-A634-717A-8950-7C8BEBFD1FC0}"/>
              </a:ext>
            </a:extLst>
          </p:cNvPr>
          <p:cNvSpPr txBox="1"/>
          <p:nvPr/>
        </p:nvSpPr>
        <p:spPr>
          <a:xfrm>
            <a:off x="6492240" y="4215048"/>
            <a:ext cx="2246128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&amp; Feedback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80D658D8-3678-8F4C-5440-D3C7FFAAC87D}"/>
              </a:ext>
            </a:extLst>
          </p:cNvPr>
          <p:cNvSpPr txBox="1"/>
          <p:nvPr/>
        </p:nvSpPr>
        <p:spPr>
          <a:xfrm>
            <a:off x="6492240" y="4663440"/>
            <a:ext cx="425196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 masking and JWT-based authorization are used.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 indicators, progress and success/error messages keep users informed.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6E52C52F-DA2D-BF9C-7BF2-4659627E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2703788F-8C5B-8AE5-A043-3310A77ED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4.5.1 User Registration Form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24A4A-61E5-B814-4A53-3CF0A165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115" y="1356867"/>
            <a:ext cx="6111770" cy="47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13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9AEFFB39-0088-542B-F2D8-0055653C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293FBD08-0E73-7335-CA87-A22DC3391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4.5.2 Email OTP Verification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9120A-218F-4C02-A8CE-7F1ACB918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718" y="1441534"/>
            <a:ext cx="4892464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943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08F35B0A-D779-8649-744D-30EE3B0C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40F1EB71-6507-CFF2-2143-B4F2858418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4.5.3 User Login Form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AECFA-1275-FAA9-765E-F26C098A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28" y="1286934"/>
            <a:ext cx="5806943" cy="48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7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2AD697C3-FCBA-B240-82E0-26CEE6D1B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22FD6EF9-484A-836D-FBF5-8F95C3932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5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4.5.4 Admin Login Form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56AAA-BEFC-0ED3-FBD7-2753038F8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518" y="1520456"/>
            <a:ext cx="6528964" cy="440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65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2DB2EAA9-01E2-D2F3-8A80-05C4F2A6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53B6155E-B849-FA09-E242-345D15504B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4.5.5 Video Upload Form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1EEE1-05C7-B36D-D7D0-05DFFF70B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806" y="1356867"/>
            <a:ext cx="5604387" cy="47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71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28A05DDB-E220-C22C-8E30-5B9AB476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6027B6CF-B074-72B7-65E6-48E6F017C6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4.5.6 Edit Video Form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CBB0E-94DB-40D7-F959-39A4A402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836" y="1356867"/>
            <a:ext cx="4694327" cy="473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96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223DB227-5224-1F66-BE23-8B0C0031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EBFCABF8-1F9A-550B-00A4-2CCABC1F5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4.5.7 Comment Input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DAFDE-A87A-E44B-144F-D322E30E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26" y="1947334"/>
            <a:ext cx="11636748" cy="366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20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5A9EA7BF-0AC4-BD63-563C-D4B7BADB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7ACD238A-284D-7505-4D58-562233087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4.5.8 Feedback Form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9B3A9-59E7-FE80-C93C-EA1697B82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755" y="1356867"/>
            <a:ext cx="6820491" cy="464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66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4521FD98-A7C8-EDF5-CF8F-0E478447D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5C0E09D9-07F5-D35A-2531-782C0218F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4.5.9 Category Management Form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5C01AC-A9D7-B5F5-3966-2182E676F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575"/>
          <a:stretch>
            <a:fillRect/>
          </a:stretch>
        </p:blipFill>
        <p:spPr>
          <a:xfrm>
            <a:off x="938899" y="1847933"/>
            <a:ext cx="10701936" cy="38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55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1574FD04-9AFD-C2D7-E42A-941AAB89A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7573FA81-87D5-291A-6682-D652B4D0F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4.5.10 Edit Category Form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2D804-DC8C-B2F9-8D31-C001CA63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252" y="1615256"/>
            <a:ext cx="5273497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45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1599D172-0342-713E-3433-03EA5E8F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>
            <a:extLst>
              <a:ext uri="{FF2B5EF4-FFF2-40B4-BE49-F238E27FC236}">
                <a16:creationId xmlns:a16="http://schemas.microsoft.com/office/drawing/2014/main" id="{4EC3DDA6-3D42-4DB4-0379-ECA97ACEF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4.5.11 Search Bar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DA13D-183A-F405-6A7B-705C9A81D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971" y="1356867"/>
            <a:ext cx="9807790" cy="465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44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4.6 Output Design</a:t>
            </a:r>
            <a:endParaRPr sz="4000" dirty="0"/>
          </a:p>
        </p:txBody>
      </p:sp>
      <p:sp>
        <p:nvSpPr>
          <p:cNvPr id="3" name="Rounded Rectangle 227">
            <a:extLst>
              <a:ext uri="{FF2B5EF4-FFF2-40B4-BE49-F238E27FC236}">
                <a16:creationId xmlns:a16="http://schemas.microsoft.com/office/drawing/2014/main" id="{43610E7B-454A-B759-9CD7-C939158F8987}"/>
              </a:ext>
            </a:extLst>
          </p:cNvPr>
          <p:cNvSpPr/>
          <p:nvPr/>
        </p:nvSpPr>
        <p:spPr>
          <a:xfrm>
            <a:off x="868680" y="1874519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28">
            <a:extLst>
              <a:ext uri="{FF2B5EF4-FFF2-40B4-BE49-F238E27FC236}">
                <a16:creationId xmlns:a16="http://schemas.microsoft.com/office/drawing/2014/main" id="{60802595-F113-6112-516D-3ECAC54E4515}"/>
              </a:ext>
            </a:extLst>
          </p:cNvPr>
          <p:cNvSpPr/>
          <p:nvPr/>
        </p:nvSpPr>
        <p:spPr>
          <a:xfrm>
            <a:off x="1033271" y="210312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567FE-F7AF-2E52-5DA8-AE0B58AEF8D1}"/>
              </a:ext>
            </a:extLst>
          </p:cNvPr>
          <p:cNvSpPr txBox="1"/>
          <p:nvPr/>
        </p:nvSpPr>
        <p:spPr>
          <a:xfrm>
            <a:off x="1280160" y="2020488"/>
            <a:ext cx="1016625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68B7B-6489-BE84-69D0-C1EC67E02713}"/>
              </a:ext>
            </a:extLst>
          </p:cNvPr>
          <p:cNvSpPr txBox="1"/>
          <p:nvPr/>
        </p:nvSpPr>
        <p:spPr>
          <a:xfrm>
            <a:off x="1280160" y="2468879"/>
            <a:ext cx="425196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Presents processed information clearly on-screen.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renders outputs using JSON responses from Spring Boot REST APIs.</a:t>
            </a:r>
          </a:p>
        </p:txBody>
      </p:sp>
      <p:sp>
        <p:nvSpPr>
          <p:cNvPr id="11" name="Rounded Rectangle 231">
            <a:extLst>
              <a:ext uri="{FF2B5EF4-FFF2-40B4-BE49-F238E27FC236}">
                <a16:creationId xmlns:a16="http://schemas.microsoft.com/office/drawing/2014/main" id="{010E56B0-E331-10E3-EBBE-88E1952048B3}"/>
              </a:ext>
            </a:extLst>
          </p:cNvPr>
          <p:cNvSpPr/>
          <p:nvPr/>
        </p:nvSpPr>
        <p:spPr>
          <a:xfrm>
            <a:off x="6080760" y="1874519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32">
            <a:extLst>
              <a:ext uri="{FF2B5EF4-FFF2-40B4-BE49-F238E27FC236}">
                <a16:creationId xmlns:a16="http://schemas.microsoft.com/office/drawing/2014/main" id="{4880BFF0-528F-CA3B-139E-1855E34EA8A9}"/>
              </a:ext>
            </a:extLst>
          </p:cNvPr>
          <p:cNvSpPr/>
          <p:nvPr/>
        </p:nvSpPr>
        <p:spPr>
          <a:xfrm>
            <a:off x="6245352" y="210312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70261-4A01-30E1-3A88-6E96EC688624}"/>
              </a:ext>
            </a:extLst>
          </p:cNvPr>
          <p:cNvSpPr txBox="1"/>
          <p:nvPr/>
        </p:nvSpPr>
        <p:spPr>
          <a:xfrm>
            <a:off x="6492240" y="2020488"/>
            <a:ext cx="838691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05BA72-29FC-0144-AF06-D2DECB97331B}"/>
              </a:ext>
            </a:extLst>
          </p:cNvPr>
          <p:cNvSpPr txBox="1"/>
          <p:nvPr/>
        </p:nvSpPr>
        <p:spPr>
          <a:xfrm>
            <a:off x="6492240" y="2468879"/>
            <a:ext cx="425196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cards, tables and statistical cards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information in a structured and easy-to-understand way.</a:t>
            </a:r>
          </a:p>
        </p:txBody>
      </p:sp>
      <p:sp>
        <p:nvSpPr>
          <p:cNvPr id="19" name="Rounded Rectangle 235">
            <a:extLst>
              <a:ext uri="{FF2B5EF4-FFF2-40B4-BE49-F238E27FC236}">
                <a16:creationId xmlns:a16="http://schemas.microsoft.com/office/drawing/2014/main" id="{20F02825-724A-15FA-F12F-8776B258E5DA}"/>
              </a:ext>
            </a:extLst>
          </p:cNvPr>
          <p:cNvSpPr/>
          <p:nvPr/>
        </p:nvSpPr>
        <p:spPr>
          <a:xfrm>
            <a:off x="868680" y="4069080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36">
            <a:extLst>
              <a:ext uri="{FF2B5EF4-FFF2-40B4-BE49-F238E27FC236}">
                <a16:creationId xmlns:a16="http://schemas.microsoft.com/office/drawing/2014/main" id="{4E224248-E6BB-EEF1-5D4E-8182DB7EC806}"/>
              </a:ext>
            </a:extLst>
          </p:cNvPr>
          <p:cNvSpPr/>
          <p:nvPr/>
        </p:nvSpPr>
        <p:spPr>
          <a:xfrm>
            <a:off x="1033271" y="429768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5F016C-2DE8-2D66-572B-046842A29B0F}"/>
              </a:ext>
            </a:extLst>
          </p:cNvPr>
          <p:cNvSpPr txBox="1"/>
          <p:nvPr/>
        </p:nvSpPr>
        <p:spPr>
          <a:xfrm>
            <a:off x="1280160" y="4215048"/>
            <a:ext cx="1784463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Responsiveness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DAC24D-3987-A62E-D842-8E3AB4A6507B}"/>
              </a:ext>
            </a:extLst>
          </p:cNvPr>
          <p:cNvSpPr txBox="1"/>
          <p:nvPr/>
        </p:nvSpPr>
        <p:spPr>
          <a:xfrm>
            <a:off x="1280160" y="4663440"/>
            <a:ext cx="425196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layouts adapt to different screen sizes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desktop, tablet and mobile users.</a:t>
            </a:r>
          </a:p>
        </p:txBody>
      </p:sp>
      <p:sp>
        <p:nvSpPr>
          <p:cNvPr id="27" name="Rounded Rectangle 239">
            <a:extLst>
              <a:ext uri="{FF2B5EF4-FFF2-40B4-BE49-F238E27FC236}">
                <a16:creationId xmlns:a16="http://schemas.microsoft.com/office/drawing/2014/main" id="{EDAAEE35-5D34-B92C-E757-70762D991999}"/>
              </a:ext>
            </a:extLst>
          </p:cNvPr>
          <p:cNvSpPr/>
          <p:nvPr/>
        </p:nvSpPr>
        <p:spPr>
          <a:xfrm>
            <a:off x="6080760" y="4069080"/>
            <a:ext cx="4983480" cy="182880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40">
            <a:extLst>
              <a:ext uri="{FF2B5EF4-FFF2-40B4-BE49-F238E27FC236}">
                <a16:creationId xmlns:a16="http://schemas.microsoft.com/office/drawing/2014/main" id="{CAE7C50C-8DF0-D505-40EE-43E308CC4436}"/>
              </a:ext>
            </a:extLst>
          </p:cNvPr>
          <p:cNvSpPr/>
          <p:nvPr/>
        </p:nvSpPr>
        <p:spPr>
          <a:xfrm>
            <a:off x="6245352" y="4297680"/>
            <a:ext cx="91440" cy="1353312"/>
          </a:xfrm>
          <a:prstGeom prst="roundRect">
            <a:avLst/>
          </a:prstGeom>
          <a:solidFill>
            <a:srgbClr val="EE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66515-E6B3-8F3B-29AC-FF183019A795}"/>
              </a:ext>
            </a:extLst>
          </p:cNvPr>
          <p:cNvSpPr txBox="1"/>
          <p:nvPr/>
        </p:nvSpPr>
        <p:spPr>
          <a:xfrm>
            <a:off x="6492240" y="4215048"/>
            <a:ext cx="2738250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900" b="1">
                <a:solidFill>
                  <a:srgbClr val="2B2B2B"/>
                </a:solidFill>
                <a:latin typeface="Arial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 &amp; Performance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CD48EBF-B063-A300-26ED-305F8D8BFF14}"/>
              </a:ext>
            </a:extLst>
          </p:cNvPr>
          <p:cNvSpPr txBox="1"/>
          <p:nvPr/>
        </p:nvSpPr>
        <p:spPr>
          <a:xfrm>
            <a:off x="6492240" y="4663440"/>
            <a:ext cx="425196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50">
                <a:solidFill>
                  <a:srgbClr val="2B2B2B"/>
                </a:solidFill>
                <a:latin typeface="Arial"/>
              </a:defRPr>
            </a:pP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Toast messages show success/error status.</a:t>
            </a:r>
            <a:b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Infinite scrolling, Redis caching and adaptive HLS help deliver outputs quickly.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E91A327B-8B96-6502-A210-0970BCEB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7E0B5638-BB9A-6477-9AC2-18ACB9269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4.6.1 Home Page (Video Feed)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BD99BD-A5BF-F349-62B4-D53B75A47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56867"/>
            <a:ext cx="9956800" cy="47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855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907E496-16F5-57D1-1CA8-8BFA6EBE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7AE6CA33-FA60-703C-6ECB-25E37F0CD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4.6.2 Video Watch Page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AB91D-477F-58D2-0F7C-E592ED8D6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552" b="23828"/>
          <a:stretch>
            <a:fillRect/>
          </a:stretch>
        </p:blipFill>
        <p:spPr>
          <a:xfrm>
            <a:off x="2497694" y="1050591"/>
            <a:ext cx="7196611" cy="506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66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6C2B5C2A-C17C-629B-F682-C2CA1335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2C750CD6-456F-184F-B12C-746F58B52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4.6.3 User Channel Page</a:t>
            </a:r>
            <a:endParaRPr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D44D0-B4A7-A956-4FD1-75B2A61A0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933" y="1356867"/>
            <a:ext cx="10270067" cy="46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118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36B5ACA-03E7-291C-256D-1C86BF8B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6F4F1034-D379-ED6D-17D2-EA75D3C35A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4.6.4 My Videos Page (User Dashboard)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3885B-E043-6747-D999-A2E52C7C7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67" y="1442007"/>
            <a:ext cx="10396233" cy="46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011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CD6B0A6C-0F67-B73F-07F3-1BD9DC0C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3F8024BD-1E2C-7AC4-6562-6C2D98DD1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4.6.5 User Profile Page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62C18A-1F5E-A4AC-1998-6B4ECDE40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866" y="1356867"/>
            <a:ext cx="9897117" cy="471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03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5BC9FDA0-3797-B851-5ED2-C1FB211D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8241774E-0758-D341-B128-F57BED9B07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4.6.6 Admin Dashboard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C39C2-D64A-5B65-863A-CD63C04FF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67" y="1356867"/>
            <a:ext cx="9791700" cy="466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65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CA85BFA0-0678-FB93-FC2B-65672755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5A34BFD6-2204-987D-9C16-94378ED28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	4.6.7 Admin – Manage Users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E1F073-CAD8-4AFF-7AFA-DF196B0AC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00" y="1888470"/>
            <a:ext cx="11776400" cy="40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301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F0CDDB7E-83AA-5976-F766-F75DE916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9FA11096-78F3-67AB-4D49-B058C1A1DA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4.6.8 Admin – Manage Videos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CAB2C-046D-7A74-75E5-0847FAD76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34" y="1771673"/>
            <a:ext cx="11167532" cy="428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364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05E0D46-9FEE-3340-006F-58D2D044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12D80C1B-B10C-3791-D420-40B4E80E08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4.6.9 Admin – Manage Categories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7C11B7-0FEA-03A3-7F8C-673F74FB8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2600"/>
            <a:ext cx="11277600" cy="43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703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00C353C7-18AF-1ABD-CFA8-C49961EF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4D9BCA3F-646F-142D-60E2-B692A8624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4.6.10 Admin – Manage Comments</a:t>
            </a:r>
            <a:endParaRPr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A04CC2-A5E0-EFA0-BD52-03F4926CD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52" b="23580"/>
          <a:stretch>
            <a:fillRect/>
          </a:stretch>
        </p:blipFill>
        <p:spPr>
          <a:xfrm>
            <a:off x="320842" y="1753302"/>
            <a:ext cx="11550316" cy="415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150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703582CE-EBF3-9D55-8C7A-9BDCDC6C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414D12F1-60A7-CA77-44F1-C63A33527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4.6.11 Admin – View Feedback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BA382-4F79-9F52-239C-1FD711C9D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1757431"/>
            <a:ext cx="11455400" cy="41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9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6A030422-8B69-8921-6D99-C0BA0D6C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>
            <a:extLst>
              <a:ext uri="{FF2B5EF4-FFF2-40B4-BE49-F238E27FC236}">
                <a16:creationId xmlns:a16="http://schemas.microsoft.com/office/drawing/2014/main" id="{0D0FFC10-12D5-EC63-49CA-C722BC5A9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4.6.12 Logout Page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FF5D2-E652-3A50-088D-A3BAF3ADA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838" y="1420084"/>
            <a:ext cx="5578323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071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5.1 System Testing</a:t>
            </a:r>
            <a:endParaRPr sz="4000" dirty="0"/>
          </a:p>
        </p:txBody>
      </p:sp>
      <p:sp>
        <p:nvSpPr>
          <p:cNvPr id="3" name="Rounded Rectangle 241">
            <a:extLst>
              <a:ext uri="{FF2B5EF4-FFF2-40B4-BE49-F238E27FC236}">
                <a16:creationId xmlns:a16="http://schemas.microsoft.com/office/drawing/2014/main" id="{4553DAF8-A69E-40C4-1C00-D27E02F56DBE}"/>
              </a:ext>
            </a:extLst>
          </p:cNvPr>
          <p:cNvSpPr/>
          <p:nvPr/>
        </p:nvSpPr>
        <p:spPr>
          <a:xfrm>
            <a:off x="888885" y="1822306"/>
            <a:ext cx="2514600" cy="202298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4E0B91-A9C7-97E3-B7B8-0F8D16073EAE}"/>
              </a:ext>
            </a:extLst>
          </p:cNvPr>
          <p:cNvSpPr/>
          <p:nvPr/>
        </p:nvSpPr>
        <p:spPr>
          <a:xfrm>
            <a:off x="888885" y="1822306"/>
            <a:ext cx="2514600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9F3AD-5F51-3EEB-2167-1A227497B99E}"/>
              </a:ext>
            </a:extLst>
          </p:cNvPr>
          <p:cNvSpPr txBox="1"/>
          <p:nvPr/>
        </p:nvSpPr>
        <p:spPr>
          <a:xfrm>
            <a:off x="1053477" y="2069194"/>
            <a:ext cx="13468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00000"/>
                </a:solidFill>
                <a:latin typeface="Aptos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5D30F-396D-099C-F0C8-1720B27D3AA9}"/>
              </a:ext>
            </a:extLst>
          </p:cNvPr>
          <p:cNvSpPr txBox="1"/>
          <p:nvPr/>
        </p:nvSpPr>
        <p:spPr>
          <a:xfrm>
            <a:off x="1053477" y="2617834"/>
            <a:ext cx="214884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Registration &amp; Login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JWT &amp; Google OAuth2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OTP Email Verification</a:t>
            </a:r>
          </a:p>
        </p:txBody>
      </p:sp>
      <p:sp>
        <p:nvSpPr>
          <p:cNvPr id="11" name="Rounded Rectangle 245">
            <a:extLst>
              <a:ext uri="{FF2B5EF4-FFF2-40B4-BE49-F238E27FC236}">
                <a16:creationId xmlns:a16="http://schemas.microsoft.com/office/drawing/2014/main" id="{AD2903A5-96D5-848D-9E3A-2E40F885DA7E}"/>
              </a:ext>
            </a:extLst>
          </p:cNvPr>
          <p:cNvSpPr/>
          <p:nvPr/>
        </p:nvSpPr>
        <p:spPr>
          <a:xfrm>
            <a:off x="6332957" y="1822306"/>
            <a:ext cx="2514600" cy="202298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55DDEE-7F36-4F2D-923A-70C318B65240}"/>
              </a:ext>
            </a:extLst>
          </p:cNvPr>
          <p:cNvSpPr/>
          <p:nvPr/>
        </p:nvSpPr>
        <p:spPr>
          <a:xfrm>
            <a:off x="6332957" y="1822306"/>
            <a:ext cx="2514600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478552-47F8-3DA2-0CD1-4A6C49F3194A}"/>
              </a:ext>
            </a:extLst>
          </p:cNvPr>
          <p:cNvSpPr txBox="1"/>
          <p:nvPr/>
        </p:nvSpPr>
        <p:spPr>
          <a:xfrm>
            <a:off x="6497549" y="2069194"/>
            <a:ext cx="1699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00000"/>
                </a:solidFill>
                <a:latin typeface="Aptos"/>
              </a:defRPr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FUNCTIONS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2E3E44-074B-A943-3137-8148664739D3}"/>
              </a:ext>
            </a:extLst>
          </p:cNvPr>
          <p:cNvSpPr txBox="1"/>
          <p:nvPr/>
        </p:nvSpPr>
        <p:spPr>
          <a:xfrm>
            <a:off x="6497549" y="2617834"/>
            <a:ext cx="214884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Profile &amp; My Videos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Video Upload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Comments &amp; Feedback</a:t>
            </a:r>
          </a:p>
        </p:txBody>
      </p:sp>
      <p:sp>
        <p:nvSpPr>
          <p:cNvPr id="19" name="Rounded Rectangle 249">
            <a:extLst>
              <a:ext uri="{FF2B5EF4-FFF2-40B4-BE49-F238E27FC236}">
                <a16:creationId xmlns:a16="http://schemas.microsoft.com/office/drawing/2014/main" id="{FB809903-5A1B-6738-CA1D-25BF25C975FE}"/>
              </a:ext>
            </a:extLst>
          </p:cNvPr>
          <p:cNvSpPr/>
          <p:nvPr/>
        </p:nvSpPr>
        <p:spPr>
          <a:xfrm>
            <a:off x="3541776" y="3845293"/>
            <a:ext cx="2514600" cy="202298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4CF672-1F5A-20BF-0B34-77527EC755DE}"/>
              </a:ext>
            </a:extLst>
          </p:cNvPr>
          <p:cNvSpPr/>
          <p:nvPr/>
        </p:nvSpPr>
        <p:spPr>
          <a:xfrm>
            <a:off x="3541776" y="3845293"/>
            <a:ext cx="2514600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8F9C3-57CB-76D6-40E2-B88F50F29F29}"/>
              </a:ext>
            </a:extLst>
          </p:cNvPr>
          <p:cNvSpPr txBox="1"/>
          <p:nvPr/>
        </p:nvSpPr>
        <p:spPr>
          <a:xfrm>
            <a:off x="3706368" y="4092181"/>
            <a:ext cx="12426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00000"/>
                </a:solidFill>
                <a:latin typeface="Aptos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&amp; ADMIN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B02550-5387-78A0-2047-3D81BE3599CF}"/>
              </a:ext>
            </a:extLst>
          </p:cNvPr>
          <p:cNvSpPr txBox="1"/>
          <p:nvPr/>
        </p:nvSpPr>
        <p:spPr>
          <a:xfrm>
            <a:off x="3706368" y="4640821"/>
            <a:ext cx="214884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HLS Video Playback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&amp; Video Management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Categories &amp; Comments</a:t>
            </a:r>
          </a:p>
        </p:txBody>
      </p:sp>
      <p:sp>
        <p:nvSpPr>
          <p:cNvPr id="27" name="Rounded Rectangle 253">
            <a:extLst>
              <a:ext uri="{FF2B5EF4-FFF2-40B4-BE49-F238E27FC236}">
                <a16:creationId xmlns:a16="http://schemas.microsoft.com/office/drawing/2014/main" id="{292EE0A5-718E-3772-DA9E-77E899C513B3}"/>
              </a:ext>
            </a:extLst>
          </p:cNvPr>
          <p:cNvSpPr/>
          <p:nvPr/>
        </p:nvSpPr>
        <p:spPr>
          <a:xfrm>
            <a:off x="9124139" y="3845293"/>
            <a:ext cx="2514600" cy="202298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AB88BB-58AD-3FAC-4915-66F0214F99FB}"/>
              </a:ext>
            </a:extLst>
          </p:cNvPr>
          <p:cNvSpPr/>
          <p:nvPr/>
        </p:nvSpPr>
        <p:spPr>
          <a:xfrm>
            <a:off x="9124139" y="3845293"/>
            <a:ext cx="2514600" cy="9144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85E72E-088A-C6C9-ECE1-B338FE2D2997}"/>
              </a:ext>
            </a:extLst>
          </p:cNvPr>
          <p:cNvSpPr txBox="1"/>
          <p:nvPr/>
        </p:nvSpPr>
        <p:spPr>
          <a:xfrm>
            <a:off x="9288731" y="4092181"/>
            <a:ext cx="11961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00000"/>
                </a:solidFill>
                <a:latin typeface="Aptos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&amp; SECURITY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3CBFA2B-076B-7437-9FE4-4E27893CF7D4}"/>
              </a:ext>
            </a:extLst>
          </p:cNvPr>
          <p:cNvSpPr txBox="1"/>
          <p:nvPr/>
        </p:nvSpPr>
        <p:spPr>
          <a:xfrm>
            <a:off x="9288731" y="4640821"/>
            <a:ext cx="214884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Search &amp; Pagination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REST API &amp; MySQL</a:t>
            </a:r>
          </a:p>
          <a:p>
            <a:pPr>
              <a:spcAft>
                <a:spcPts val="15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Role-based Access &amp; Validation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BDACFDC6-27D7-1905-FFDF-C75E34D8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FD130275-D846-73C0-240E-4414F7142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5.1.1 Output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FDC545-E374-A753-65E5-34F6261406F5}"/>
              </a:ext>
            </a:extLst>
          </p:cNvPr>
          <p:cNvSpPr/>
          <p:nvPr/>
        </p:nvSpPr>
        <p:spPr>
          <a:xfrm>
            <a:off x="1415844" y="1141448"/>
            <a:ext cx="1271559" cy="430838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Home Feed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E9361-0B49-91C5-8A5F-62EA06F5F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746334"/>
            <a:ext cx="9956800" cy="435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641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BB335F63-1C64-7BAD-4D8B-E33DB7B6C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39EE5BB8-B2BC-74F7-19CC-C99AEFC8F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5.1.1 Output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6BF929-DD5B-DFAB-DFE1-74C4FF73DE6D}"/>
              </a:ext>
            </a:extLst>
          </p:cNvPr>
          <p:cNvSpPr/>
          <p:nvPr/>
        </p:nvSpPr>
        <p:spPr>
          <a:xfrm>
            <a:off x="1424937" y="1128697"/>
            <a:ext cx="1852676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Video Playback + Quality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4E0C4-A52C-2F50-5712-AFD78987C9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43" b="23828"/>
          <a:stretch>
            <a:fillRect/>
          </a:stretch>
        </p:blipFill>
        <p:spPr>
          <a:xfrm>
            <a:off x="2713702" y="1621285"/>
            <a:ext cx="6980553" cy="453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729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76CB3844-DF1D-9912-F9A6-99845BFB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C428B9F8-FAF4-CA9A-BE27-7D0EB7A38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5.1.1 Output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1DBF3B-78F2-F328-F43D-E7488EB7F1AF}"/>
              </a:ext>
            </a:extLst>
          </p:cNvPr>
          <p:cNvSpPr/>
          <p:nvPr/>
        </p:nvSpPr>
        <p:spPr>
          <a:xfrm>
            <a:off x="1365670" y="1152388"/>
            <a:ext cx="1701994" cy="408958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Upload Success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97D05-2C80-302A-1395-763D4B6DEF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" t="9629" r="828" b="18395"/>
          <a:stretch>
            <a:fillRect/>
          </a:stretch>
        </p:blipFill>
        <p:spPr>
          <a:xfrm>
            <a:off x="829733" y="1752600"/>
            <a:ext cx="10532534" cy="428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70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531FDF91-DF59-1A0D-42D6-D6627B85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B535F4E0-758E-D0C7-6144-FBFBD12FF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5.1.1 Output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B6D2A9-934C-5A36-92B7-0306D8AB91A7}"/>
              </a:ext>
            </a:extLst>
          </p:cNvPr>
          <p:cNvSpPr/>
          <p:nvPr/>
        </p:nvSpPr>
        <p:spPr>
          <a:xfrm>
            <a:off x="1396533" y="1128697"/>
            <a:ext cx="1852676" cy="456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Email Verification Success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329C8C-F89E-4B5D-2A42-3A487831BF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62" t="9630" b="17160"/>
          <a:stretch>
            <a:fillRect/>
          </a:stretch>
        </p:blipFill>
        <p:spPr>
          <a:xfrm>
            <a:off x="2391697" y="1664028"/>
            <a:ext cx="8078091" cy="443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877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9CD1E5CF-7040-1489-6211-B3726FD5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EC93B3DA-E196-2696-AE15-1EDB265F0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5.1.1 Output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53C8D9-4BED-D215-8EBE-C4908417A85B}"/>
              </a:ext>
            </a:extLst>
          </p:cNvPr>
          <p:cNvSpPr/>
          <p:nvPr/>
        </p:nvSpPr>
        <p:spPr>
          <a:xfrm>
            <a:off x="5079269" y="1483281"/>
            <a:ext cx="2033463" cy="320120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Login Success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1CC295-51B0-ADA7-831C-B9FF0890A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30" b="51975"/>
          <a:stretch>
            <a:fillRect/>
          </a:stretch>
        </p:blipFill>
        <p:spPr>
          <a:xfrm>
            <a:off x="320842" y="2112433"/>
            <a:ext cx="11550316" cy="263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670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AF6F17FE-1A67-A7AB-0575-ECC6B6E2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AD094183-82B1-0E86-3781-4260955C5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5.1.1 Output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81F017-1A24-05CF-4CD0-B418E3C540FF}"/>
              </a:ext>
            </a:extLst>
          </p:cNvPr>
          <p:cNvSpPr/>
          <p:nvPr/>
        </p:nvSpPr>
        <p:spPr>
          <a:xfrm>
            <a:off x="1455175" y="1152387"/>
            <a:ext cx="1556694" cy="40895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Search 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10282-DF23-DF60-8516-DACB91016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341" y="1822534"/>
            <a:ext cx="9637992" cy="417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736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624481ED-FAAD-F16A-C425-7A47F63C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EAFDE263-6171-1B2C-DCF8-FE8B71D84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D0B111-F58B-3DA1-4168-1A74F9E9EF31}"/>
              </a:ext>
            </a:extLst>
          </p:cNvPr>
          <p:cNvSpPr/>
          <p:nvPr/>
        </p:nvSpPr>
        <p:spPr>
          <a:xfrm>
            <a:off x="1365670" y="1282190"/>
            <a:ext cx="2026459" cy="448287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Empty registration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065C0-0A73-CBFE-7FAC-78F2BC92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30" t="9754" b="4197"/>
          <a:stretch>
            <a:fillRect/>
          </a:stretch>
        </p:blipFill>
        <p:spPr>
          <a:xfrm>
            <a:off x="2472625" y="1862667"/>
            <a:ext cx="7781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784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AB7A0EBD-3F52-A4AF-EF61-116C734B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E72C6B04-4CE0-1342-76C7-94C6007CE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D0B806-8BCD-916C-85D7-CEC21A772D42}"/>
              </a:ext>
            </a:extLst>
          </p:cNvPr>
          <p:cNvSpPr/>
          <p:nvPr/>
        </p:nvSpPr>
        <p:spPr>
          <a:xfrm>
            <a:off x="1876675" y="1295783"/>
            <a:ext cx="2407459" cy="361435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Password validation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BC62A2-584C-A186-ADFB-AD2B97227D5B}"/>
              </a:ext>
            </a:extLst>
          </p:cNvPr>
          <p:cNvSpPr/>
          <p:nvPr/>
        </p:nvSpPr>
        <p:spPr>
          <a:xfrm>
            <a:off x="7485625" y="1296261"/>
            <a:ext cx="2407459" cy="360957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Password mismatch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C534B-3CA9-8825-68B6-2593F2D94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38" t="24346" r="21559" b="3457"/>
          <a:stretch>
            <a:fillRect/>
          </a:stretch>
        </p:blipFill>
        <p:spPr>
          <a:xfrm>
            <a:off x="816816" y="1752600"/>
            <a:ext cx="4724401" cy="4436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51C689-E9F9-1FB8-B04E-DC1503E86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792" y="1752600"/>
            <a:ext cx="5677392" cy="43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681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9205AD0F-BB83-7D6C-A136-81C2940D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E0C6E0B6-BA1D-3175-A06D-E522A015F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6876BC-D744-34D1-A4AB-D0874AEFF991}"/>
              </a:ext>
            </a:extLst>
          </p:cNvPr>
          <p:cNvSpPr/>
          <p:nvPr/>
        </p:nvSpPr>
        <p:spPr>
          <a:xfrm>
            <a:off x="1424663" y="1262525"/>
            <a:ext cx="1475853" cy="340133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Existing email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45247-D680-3076-A957-7315E5BC3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13" t="9876" b="11729"/>
          <a:stretch>
            <a:fillRect/>
          </a:stretch>
        </p:blipFill>
        <p:spPr>
          <a:xfrm>
            <a:off x="2624665" y="1769533"/>
            <a:ext cx="7587025" cy="416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29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ACEE95FC-251F-5239-53E1-1E2EA348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E3348D23-A709-F27F-1887-120984C43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7E4255-14AB-2F9C-DBC5-D090F504B234}"/>
              </a:ext>
            </a:extLst>
          </p:cNvPr>
          <p:cNvSpPr/>
          <p:nvPr/>
        </p:nvSpPr>
        <p:spPr>
          <a:xfrm>
            <a:off x="2125990" y="1356867"/>
            <a:ext cx="1505349" cy="323551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Empty OTP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C7CE5A-B47E-8C49-BC6B-C60F7C27152B}"/>
              </a:ext>
            </a:extLst>
          </p:cNvPr>
          <p:cNvSpPr/>
          <p:nvPr/>
        </p:nvSpPr>
        <p:spPr>
          <a:xfrm>
            <a:off x="8281520" y="1356867"/>
            <a:ext cx="1579141" cy="323552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Wrong OTP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7150C-86D6-CE54-AF89-9C568827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27" t="10246" b="19630"/>
          <a:stretch>
            <a:fillRect/>
          </a:stretch>
        </p:blipFill>
        <p:spPr>
          <a:xfrm>
            <a:off x="253998" y="1959931"/>
            <a:ext cx="5249335" cy="362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8B554E-4B45-0C31-72B8-0BDECA0A40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020" t="10001" b="19999"/>
          <a:stretch>
            <a:fillRect/>
          </a:stretch>
        </p:blipFill>
        <p:spPr>
          <a:xfrm>
            <a:off x="6365882" y="1959931"/>
            <a:ext cx="5410418" cy="361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709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FD5A7F1E-FE48-1BE4-BAB1-9778D1EC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49FDC451-79D3-0F84-2EEF-BEAB857F3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69ADC5-3D07-95AC-2B4F-520B1BD5356C}"/>
              </a:ext>
            </a:extLst>
          </p:cNvPr>
          <p:cNvSpPr/>
          <p:nvPr/>
        </p:nvSpPr>
        <p:spPr>
          <a:xfrm>
            <a:off x="4964238" y="1356867"/>
            <a:ext cx="2263525" cy="329339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Registration cancelled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DC9C8-DA2F-CCC1-6287-69604BA2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26" t="9225" b="11497"/>
          <a:stretch>
            <a:fillRect/>
          </a:stretch>
        </p:blipFill>
        <p:spPr>
          <a:xfrm>
            <a:off x="2332121" y="1803400"/>
            <a:ext cx="7527758" cy="425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057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48160F5B-F923-325C-5638-C06C10F3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484C6CCD-70CB-8BD1-CA3B-965EBFD1B4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11DC0D-C2F2-C26C-D407-C82B780E0E3D}"/>
              </a:ext>
            </a:extLst>
          </p:cNvPr>
          <p:cNvSpPr/>
          <p:nvPr/>
        </p:nvSpPr>
        <p:spPr>
          <a:xfrm>
            <a:off x="5373162" y="1452875"/>
            <a:ext cx="1445576" cy="356115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File Too Large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99E7F-78AE-B38A-2EFD-F88C7A96A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381" t="9753" b="14568"/>
          <a:stretch>
            <a:fillRect/>
          </a:stretch>
        </p:blipFill>
        <p:spPr>
          <a:xfrm>
            <a:off x="2133155" y="1904999"/>
            <a:ext cx="7925691" cy="42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650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CC0B0211-F2F3-800D-D350-66220DB8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>
            <a:extLst>
              <a:ext uri="{FF2B5EF4-FFF2-40B4-BE49-F238E27FC236}">
                <a16:creationId xmlns:a16="http://schemas.microsoft.com/office/drawing/2014/main" id="{E56A0B4C-0DE4-80C6-0BE7-82085BAFF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5.1.2 Validation &amp; Verification Testing</a:t>
            </a:r>
            <a:endParaRPr sz="4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A5CDFE-F9B1-A23F-A821-9872F6DF2ECD}"/>
              </a:ext>
            </a:extLst>
          </p:cNvPr>
          <p:cNvSpPr/>
          <p:nvPr/>
        </p:nvSpPr>
        <p:spPr>
          <a:xfrm>
            <a:off x="5294315" y="1356867"/>
            <a:ext cx="1603371" cy="356115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Comment Hide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399E9-F6CE-8630-931C-A4DFEB614E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30" b="53950"/>
          <a:stretch>
            <a:fillRect/>
          </a:stretch>
        </p:blipFill>
        <p:spPr>
          <a:xfrm>
            <a:off x="320842" y="1803401"/>
            <a:ext cx="11550316" cy="2175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32389-C35E-3A78-55AB-397C531FF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699" t="67276" r="29256" b="4773"/>
          <a:stretch>
            <a:fillRect/>
          </a:stretch>
        </p:blipFill>
        <p:spPr>
          <a:xfrm>
            <a:off x="2497666" y="4154935"/>
            <a:ext cx="6011335" cy="18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161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6. Conclusion and Future Enhancement</a:t>
            </a:r>
            <a:endParaRPr sz="4000" dirty="0"/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CFC979F4-94FD-F4EA-1BBB-3A17BB72D34B}"/>
              </a:ext>
            </a:extLst>
          </p:cNvPr>
          <p:cNvSpPr/>
          <p:nvPr/>
        </p:nvSpPr>
        <p:spPr>
          <a:xfrm>
            <a:off x="705465" y="2028887"/>
            <a:ext cx="2514600" cy="26060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356932-5457-FF3E-9D23-238641AEAB03}"/>
              </a:ext>
            </a:extLst>
          </p:cNvPr>
          <p:cNvSpPr/>
          <p:nvPr/>
        </p:nvSpPr>
        <p:spPr>
          <a:xfrm>
            <a:off x="888345" y="2257487"/>
            <a:ext cx="310896" cy="310896"/>
          </a:xfrm>
          <a:prstGeom prst="ellipse">
            <a:avLst/>
          </a:prstGeom>
          <a:solidFill>
            <a:srgbClr val="BE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C7D67-EE8B-8E8D-ABC9-8EA1481EC220}"/>
              </a:ext>
            </a:extLst>
          </p:cNvPr>
          <p:cNvSpPr txBox="1"/>
          <p:nvPr/>
        </p:nvSpPr>
        <p:spPr>
          <a:xfrm>
            <a:off x="888345" y="2714687"/>
            <a:ext cx="12779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00000"/>
                </a:solidFill>
                <a:latin typeface="Aptos"/>
              </a:defRPr>
            </a:pP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A4830-47A3-B60B-C405-0DD9B0B35933}"/>
              </a:ext>
            </a:extLst>
          </p:cNvPr>
          <p:cNvSpPr txBox="1"/>
          <p:nvPr/>
        </p:nvSpPr>
        <p:spPr>
          <a:xfrm>
            <a:off x="888345" y="3217607"/>
            <a:ext cx="19138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373737"/>
                </a:solidFill>
                <a:latin typeface="Aptos"/>
              </a:defRPr>
            </a:pPr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React, TypeScript, Vite, Tailwind CSS, Java, Spring Boot and MySQL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4CDB3E76-96E5-A340-E79E-00A956369D3E}"/>
              </a:ext>
            </a:extLst>
          </p:cNvPr>
          <p:cNvSpPr/>
          <p:nvPr/>
        </p:nvSpPr>
        <p:spPr>
          <a:xfrm>
            <a:off x="3437849" y="2028887"/>
            <a:ext cx="2514600" cy="26060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3EBD4B-C1F2-C9E1-2CCD-851352B159D4}"/>
              </a:ext>
            </a:extLst>
          </p:cNvPr>
          <p:cNvSpPr/>
          <p:nvPr/>
        </p:nvSpPr>
        <p:spPr>
          <a:xfrm>
            <a:off x="3620729" y="2257487"/>
            <a:ext cx="310896" cy="310896"/>
          </a:xfrm>
          <a:prstGeom prst="ellipse">
            <a:avLst/>
          </a:prstGeom>
          <a:solidFill>
            <a:srgbClr val="BE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AEE407-397B-8A9E-6D37-38919EA0F783}"/>
              </a:ext>
            </a:extLst>
          </p:cNvPr>
          <p:cNvSpPr txBox="1"/>
          <p:nvPr/>
        </p:nvSpPr>
        <p:spPr>
          <a:xfrm>
            <a:off x="3620729" y="2714687"/>
            <a:ext cx="10550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00000"/>
                </a:solidFill>
                <a:latin typeface="Aptos"/>
              </a:defRPr>
            </a:pPr>
            <a:r>
              <a:rPr sz="1800" dirty="0"/>
              <a:t>Security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40BFE9-7F78-A21D-B894-1A9E8379DF22}"/>
              </a:ext>
            </a:extLst>
          </p:cNvPr>
          <p:cNvSpPr txBox="1"/>
          <p:nvPr/>
        </p:nvSpPr>
        <p:spPr>
          <a:xfrm>
            <a:off x="3620728" y="3217607"/>
            <a:ext cx="17878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373737"/>
                </a:solidFill>
                <a:latin typeface="Aptos"/>
              </a:defRPr>
            </a:pPr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JWT, refresh tokens, role-based authorization and OTP verification</a:t>
            </a: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3683352F-80D4-B468-1E9A-7E6DE03BB216}"/>
              </a:ext>
            </a:extLst>
          </p:cNvPr>
          <p:cNvSpPr/>
          <p:nvPr/>
        </p:nvSpPr>
        <p:spPr>
          <a:xfrm>
            <a:off x="6240731" y="2028887"/>
            <a:ext cx="2514600" cy="26060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5C923D-1C95-DB68-FFBF-C131ECEEE32E}"/>
              </a:ext>
            </a:extLst>
          </p:cNvPr>
          <p:cNvSpPr/>
          <p:nvPr/>
        </p:nvSpPr>
        <p:spPr>
          <a:xfrm>
            <a:off x="6423611" y="2257487"/>
            <a:ext cx="310896" cy="310896"/>
          </a:xfrm>
          <a:prstGeom prst="ellipse">
            <a:avLst/>
          </a:prstGeom>
          <a:solidFill>
            <a:srgbClr val="BE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3434D6-1A4B-2472-C140-8A3D2C9CF7C0}"/>
              </a:ext>
            </a:extLst>
          </p:cNvPr>
          <p:cNvSpPr txBox="1"/>
          <p:nvPr/>
        </p:nvSpPr>
        <p:spPr>
          <a:xfrm>
            <a:off x="6423611" y="2714687"/>
            <a:ext cx="19960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00000"/>
                </a:solidFill>
                <a:latin typeface="Aptos"/>
              </a:defRPr>
            </a:pPr>
            <a:r>
              <a:rPr sz="1800" dirty="0"/>
              <a:t>Video Processing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0398F-3B32-BFC1-B181-5A569C3B6EB4}"/>
              </a:ext>
            </a:extLst>
          </p:cNvPr>
          <p:cNvSpPr txBox="1"/>
          <p:nvPr/>
        </p:nvSpPr>
        <p:spPr>
          <a:xfrm>
            <a:off x="6423611" y="3217607"/>
            <a:ext cx="21031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373737"/>
                </a:solidFill>
                <a:latin typeface="Aptos"/>
              </a:defRPr>
            </a:pPr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FFmpeg and HLS for playlist and segment-based streaming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A8B1B34B-0FB3-EB5A-8998-C8D6ABF83102}"/>
              </a:ext>
            </a:extLst>
          </p:cNvPr>
          <p:cNvSpPr/>
          <p:nvPr/>
        </p:nvSpPr>
        <p:spPr>
          <a:xfrm>
            <a:off x="8971937" y="2028887"/>
            <a:ext cx="2514600" cy="26060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F0E959-04B7-EB72-97A9-CB9E42226CBD}"/>
              </a:ext>
            </a:extLst>
          </p:cNvPr>
          <p:cNvSpPr/>
          <p:nvPr/>
        </p:nvSpPr>
        <p:spPr>
          <a:xfrm>
            <a:off x="9154817" y="2257487"/>
            <a:ext cx="310896" cy="310896"/>
          </a:xfrm>
          <a:prstGeom prst="ellipse">
            <a:avLst/>
          </a:prstGeom>
          <a:solidFill>
            <a:srgbClr val="BE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E03D348-5CB6-2D47-A70B-33243B12CC99}"/>
              </a:ext>
            </a:extLst>
          </p:cNvPr>
          <p:cNvSpPr txBox="1"/>
          <p:nvPr/>
        </p:nvSpPr>
        <p:spPr>
          <a:xfrm>
            <a:off x="9154817" y="2714687"/>
            <a:ext cx="19720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00000"/>
                </a:solidFill>
                <a:latin typeface="Aptos"/>
              </a:defRPr>
            </a:pPr>
            <a:r>
              <a:rPr sz="1800" dirty="0"/>
              <a:t>Overall Outcome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A991356-7B0E-7342-E12D-03D2CF987FE4}"/>
              </a:ext>
            </a:extLst>
          </p:cNvPr>
          <p:cNvSpPr txBox="1"/>
          <p:nvPr/>
        </p:nvSpPr>
        <p:spPr>
          <a:xfrm>
            <a:off x="9154817" y="3217607"/>
            <a:ext cx="22311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373737"/>
                </a:solidFill>
                <a:latin typeface="Aptos"/>
              </a:defRPr>
            </a:pPr>
            <a:r>
              <a:rPr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structured foundation for a more advanced and scalable streaming platform</a:t>
            </a: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AB2E0CB5-F564-6F97-6185-9C2A6F474BE2}"/>
              </a:ext>
            </a:extLst>
          </p:cNvPr>
          <p:cNvSpPr/>
          <p:nvPr/>
        </p:nvSpPr>
        <p:spPr>
          <a:xfrm>
            <a:off x="5095434" y="1446939"/>
            <a:ext cx="2001032" cy="356115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6.1 Conclusion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6D9227AA-7731-9AB4-35C5-DD37297F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>
            <a:extLst>
              <a:ext uri="{FF2B5EF4-FFF2-40B4-BE49-F238E27FC236}">
                <a16:creationId xmlns:a16="http://schemas.microsoft.com/office/drawing/2014/main" id="{AAFEC9CA-080C-30D8-833E-A8A7BFFBC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6. Conclusion and Future Enhancement</a:t>
            </a:r>
            <a:endParaRPr sz="4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3E3920-258D-A90E-0668-A3871C9BEAE6}"/>
              </a:ext>
            </a:extLst>
          </p:cNvPr>
          <p:cNvSpPr/>
          <p:nvPr/>
        </p:nvSpPr>
        <p:spPr>
          <a:xfrm>
            <a:off x="4908621" y="1472539"/>
            <a:ext cx="2374658" cy="356115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6.2 Future Enhancement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0FC518-E6FD-6883-16CA-CB80A165F91A}"/>
              </a:ext>
            </a:extLst>
          </p:cNvPr>
          <p:cNvSpPr/>
          <p:nvPr/>
        </p:nvSpPr>
        <p:spPr>
          <a:xfrm>
            <a:off x="649912" y="1916685"/>
            <a:ext cx="5230368" cy="1078992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23FDA1F4-04B3-5086-E414-6DF4A0C5C66E}"/>
              </a:ext>
            </a:extLst>
          </p:cNvPr>
          <p:cNvSpPr/>
          <p:nvPr/>
        </p:nvSpPr>
        <p:spPr>
          <a:xfrm>
            <a:off x="814503" y="2099564"/>
            <a:ext cx="502920" cy="50292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D8709-F1FA-3541-FC37-E6529397D00F}"/>
              </a:ext>
            </a:extLst>
          </p:cNvPr>
          <p:cNvSpPr txBox="1"/>
          <p:nvPr/>
        </p:nvSpPr>
        <p:spPr>
          <a:xfrm>
            <a:off x="814503" y="2236725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5C2E2D-F22B-AF57-CCA1-801872957BFD}"/>
              </a:ext>
            </a:extLst>
          </p:cNvPr>
          <p:cNvSpPr txBox="1"/>
          <p:nvPr/>
        </p:nvSpPr>
        <p:spPr>
          <a:xfrm>
            <a:off x="1472872" y="2044701"/>
            <a:ext cx="31149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800000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Media Storage &amp; Delivery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B74E92-DB40-BBF7-B77B-F1D1B180DB50}"/>
              </a:ext>
            </a:extLst>
          </p:cNvPr>
          <p:cNvSpPr txBox="1"/>
          <p:nvPr/>
        </p:nvSpPr>
        <p:spPr>
          <a:xfrm>
            <a:off x="1472872" y="2373885"/>
            <a:ext cx="39053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 local video storage with Amazon S3 or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MinIO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along with CDN-based delivery.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F9503CD5-6C4B-3A5D-0448-205C7C3ED3F9}"/>
              </a:ext>
            </a:extLst>
          </p:cNvPr>
          <p:cNvSpPr/>
          <p:nvPr/>
        </p:nvSpPr>
        <p:spPr>
          <a:xfrm>
            <a:off x="649912" y="3178556"/>
            <a:ext cx="5230368" cy="1078992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2C7A1207-02D6-8C98-3102-F5D21990BC13}"/>
              </a:ext>
            </a:extLst>
          </p:cNvPr>
          <p:cNvSpPr/>
          <p:nvPr/>
        </p:nvSpPr>
        <p:spPr>
          <a:xfrm>
            <a:off x="814503" y="3361436"/>
            <a:ext cx="502920" cy="50292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3EE6F58-3238-EE6D-C6F2-C82EC105C760}"/>
              </a:ext>
            </a:extLst>
          </p:cNvPr>
          <p:cNvSpPr txBox="1"/>
          <p:nvPr/>
        </p:nvSpPr>
        <p:spPr>
          <a:xfrm>
            <a:off x="814503" y="3452875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533FAD5-75B6-ECEA-1CBB-C9A21BB7EE89}"/>
              </a:ext>
            </a:extLst>
          </p:cNvPr>
          <p:cNvSpPr txBox="1"/>
          <p:nvPr/>
        </p:nvSpPr>
        <p:spPr>
          <a:xfrm>
            <a:off x="1472872" y="3306572"/>
            <a:ext cx="28873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800000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 Video Processing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008032D-DD13-ABAE-E1C9-F5FDE6211703}"/>
              </a:ext>
            </a:extLst>
          </p:cNvPr>
          <p:cNvSpPr txBox="1"/>
          <p:nvPr/>
        </p:nvSpPr>
        <p:spPr>
          <a:xfrm>
            <a:off x="1472871" y="3635756"/>
            <a:ext cx="40626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video processing to background jobs using message queues and worker services.</a:t>
            </a:r>
          </a:p>
        </p:txBody>
      </p:sp>
      <p:sp>
        <p:nvSpPr>
          <p:cNvPr id="233" name="Rounded Rectangle 17">
            <a:extLst>
              <a:ext uri="{FF2B5EF4-FFF2-40B4-BE49-F238E27FC236}">
                <a16:creationId xmlns:a16="http://schemas.microsoft.com/office/drawing/2014/main" id="{EFFF5948-DFE7-3CD5-D9C3-664103D1AD67}"/>
              </a:ext>
            </a:extLst>
          </p:cNvPr>
          <p:cNvSpPr/>
          <p:nvPr/>
        </p:nvSpPr>
        <p:spPr>
          <a:xfrm>
            <a:off x="664255" y="4440427"/>
            <a:ext cx="5230368" cy="1078992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ounded Rectangle 18">
            <a:extLst>
              <a:ext uri="{FF2B5EF4-FFF2-40B4-BE49-F238E27FC236}">
                <a16:creationId xmlns:a16="http://schemas.microsoft.com/office/drawing/2014/main" id="{97294397-9806-B49C-9019-56CA88F92B83}"/>
              </a:ext>
            </a:extLst>
          </p:cNvPr>
          <p:cNvSpPr/>
          <p:nvPr/>
        </p:nvSpPr>
        <p:spPr>
          <a:xfrm>
            <a:off x="828846" y="4623307"/>
            <a:ext cx="502920" cy="50292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7695371-543B-2F28-768F-0E673769B9DE}"/>
              </a:ext>
            </a:extLst>
          </p:cNvPr>
          <p:cNvSpPr txBox="1"/>
          <p:nvPr/>
        </p:nvSpPr>
        <p:spPr>
          <a:xfrm>
            <a:off x="828846" y="4714747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C87283F-F188-E653-5098-E7D9F258445E}"/>
              </a:ext>
            </a:extLst>
          </p:cNvPr>
          <p:cNvSpPr txBox="1"/>
          <p:nvPr/>
        </p:nvSpPr>
        <p:spPr>
          <a:xfrm>
            <a:off x="1487215" y="4568443"/>
            <a:ext cx="36599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800000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Search and Recommendations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DCFDC72-7ABE-8A0B-47CB-FB055C511FAC}"/>
              </a:ext>
            </a:extLst>
          </p:cNvPr>
          <p:cNvSpPr txBox="1"/>
          <p:nvPr/>
        </p:nvSpPr>
        <p:spPr>
          <a:xfrm>
            <a:off x="1487215" y="4897627"/>
            <a:ext cx="4048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filters, tags, improved relevance and recommendations based on user interactions.</a:t>
            </a:r>
          </a:p>
        </p:txBody>
      </p:sp>
      <p:sp>
        <p:nvSpPr>
          <p:cNvPr id="243" name="Rounded Rectangle 22">
            <a:extLst>
              <a:ext uri="{FF2B5EF4-FFF2-40B4-BE49-F238E27FC236}">
                <a16:creationId xmlns:a16="http://schemas.microsoft.com/office/drawing/2014/main" id="{5463E44F-1B23-CE07-23D5-318D63FFE6C1}"/>
              </a:ext>
            </a:extLst>
          </p:cNvPr>
          <p:cNvSpPr/>
          <p:nvPr/>
        </p:nvSpPr>
        <p:spPr>
          <a:xfrm>
            <a:off x="6270030" y="1898397"/>
            <a:ext cx="5230368" cy="1078992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ounded Rectangle 23">
            <a:extLst>
              <a:ext uri="{FF2B5EF4-FFF2-40B4-BE49-F238E27FC236}">
                <a16:creationId xmlns:a16="http://schemas.microsoft.com/office/drawing/2014/main" id="{14B51095-92E1-BFE7-5C80-A1849E5F4A23}"/>
              </a:ext>
            </a:extLst>
          </p:cNvPr>
          <p:cNvSpPr/>
          <p:nvPr/>
        </p:nvSpPr>
        <p:spPr>
          <a:xfrm>
            <a:off x="6434621" y="2081277"/>
            <a:ext cx="502920" cy="50292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D726FDD3-46B8-92F7-1912-A5C38C0AD645}"/>
              </a:ext>
            </a:extLst>
          </p:cNvPr>
          <p:cNvSpPr txBox="1"/>
          <p:nvPr/>
        </p:nvSpPr>
        <p:spPr>
          <a:xfrm>
            <a:off x="6434621" y="2172717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DCEE40E1-9A4D-705E-BF06-F0D636A84679}"/>
              </a:ext>
            </a:extLst>
          </p:cNvPr>
          <p:cNvSpPr txBox="1"/>
          <p:nvPr/>
        </p:nvSpPr>
        <p:spPr>
          <a:xfrm>
            <a:off x="7092990" y="2026413"/>
            <a:ext cx="30844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800000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and Creator Features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9C03BD3C-E8B3-B798-32C4-36E46C3E69F3}"/>
              </a:ext>
            </a:extLst>
          </p:cNvPr>
          <p:cNvSpPr txBox="1"/>
          <p:nvPr/>
        </p:nvSpPr>
        <p:spPr>
          <a:xfrm>
            <a:off x="7092990" y="2355597"/>
            <a:ext cx="4407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likes, playlists, subscriptions, notifications, watch history and creator dashboards.</a:t>
            </a:r>
          </a:p>
        </p:txBody>
      </p:sp>
      <p:sp>
        <p:nvSpPr>
          <p:cNvPr id="254" name="Rounded Rectangle 27">
            <a:extLst>
              <a:ext uri="{FF2B5EF4-FFF2-40B4-BE49-F238E27FC236}">
                <a16:creationId xmlns:a16="http://schemas.microsoft.com/office/drawing/2014/main" id="{4CA6F165-2E04-9D9B-F04F-464E7E359105}"/>
              </a:ext>
            </a:extLst>
          </p:cNvPr>
          <p:cNvSpPr/>
          <p:nvPr/>
        </p:nvSpPr>
        <p:spPr>
          <a:xfrm>
            <a:off x="6270030" y="3126136"/>
            <a:ext cx="5230368" cy="1131412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ounded Rectangle 28">
            <a:extLst>
              <a:ext uri="{FF2B5EF4-FFF2-40B4-BE49-F238E27FC236}">
                <a16:creationId xmlns:a16="http://schemas.microsoft.com/office/drawing/2014/main" id="{5690AD20-A978-D5AA-36A8-369F677A9B7E}"/>
              </a:ext>
            </a:extLst>
          </p:cNvPr>
          <p:cNvSpPr/>
          <p:nvPr/>
        </p:nvSpPr>
        <p:spPr>
          <a:xfrm>
            <a:off x="6434622" y="3309015"/>
            <a:ext cx="502920" cy="429156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61FFB8D-2051-6A8B-B846-0A88EB801FCB}"/>
              </a:ext>
            </a:extLst>
          </p:cNvPr>
          <p:cNvSpPr txBox="1"/>
          <p:nvPr/>
        </p:nvSpPr>
        <p:spPr>
          <a:xfrm>
            <a:off x="6434622" y="340045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26CD4B1-1008-C2FA-B68C-2532994193CC}"/>
              </a:ext>
            </a:extLst>
          </p:cNvPr>
          <p:cNvSpPr txBox="1"/>
          <p:nvPr/>
        </p:nvSpPr>
        <p:spPr>
          <a:xfrm>
            <a:off x="7092990" y="3254152"/>
            <a:ext cx="33313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800000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 and Internationalization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F9C9AE5-7714-81A5-B066-A62D510D2603}"/>
              </a:ext>
            </a:extLst>
          </p:cNvPr>
          <p:cNvSpPr txBox="1"/>
          <p:nvPr/>
        </p:nvSpPr>
        <p:spPr>
          <a:xfrm>
            <a:off x="7092989" y="3583336"/>
            <a:ext cx="440740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373737"/>
                </a:solidFill>
                <a:latin typeface="Aptos"/>
              </a:defRPr>
            </a:pPr>
            <a:r>
              <a:rPr sz="14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subtitles, captions, transcripts, keyboard-friendly controls, screen-reader support and multiple languages.</a:t>
            </a:r>
          </a:p>
        </p:txBody>
      </p:sp>
      <p:sp>
        <p:nvSpPr>
          <p:cNvPr id="264" name="Rounded Rectangle 32">
            <a:extLst>
              <a:ext uri="{FF2B5EF4-FFF2-40B4-BE49-F238E27FC236}">
                <a16:creationId xmlns:a16="http://schemas.microsoft.com/office/drawing/2014/main" id="{56A7FC2E-863E-BB03-2381-F658BDD4A649}"/>
              </a:ext>
            </a:extLst>
          </p:cNvPr>
          <p:cNvSpPr/>
          <p:nvPr/>
        </p:nvSpPr>
        <p:spPr>
          <a:xfrm>
            <a:off x="6303178" y="4451129"/>
            <a:ext cx="5230368" cy="1078992"/>
          </a:xfrm>
          <a:prstGeom prst="roundRect">
            <a:avLst/>
          </a:prstGeom>
          <a:solidFill>
            <a:srgbClr val="F8F8F8"/>
          </a:solidFill>
          <a:ln w="1016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ounded Rectangle 33">
            <a:extLst>
              <a:ext uri="{FF2B5EF4-FFF2-40B4-BE49-F238E27FC236}">
                <a16:creationId xmlns:a16="http://schemas.microsoft.com/office/drawing/2014/main" id="{5B2BA589-F387-3AB1-24C6-E506F2EAF4A4}"/>
              </a:ext>
            </a:extLst>
          </p:cNvPr>
          <p:cNvSpPr/>
          <p:nvPr/>
        </p:nvSpPr>
        <p:spPr>
          <a:xfrm>
            <a:off x="6467770" y="4634009"/>
            <a:ext cx="502920" cy="409273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50A99EFB-508E-9874-C636-705FE70FBEB8}"/>
              </a:ext>
            </a:extLst>
          </p:cNvPr>
          <p:cNvSpPr txBox="1"/>
          <p:nvPr/>
        </p:nvSpPr>
        <p:spPr>
          <a:xfrm>
            <a:off x="6467770" y="4725449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D2AE701-25D2-7458-9C0A-BA59B72DC72D}"/>
              </a:ext>
            </a:extLst>
          </p:cNvPr>
          <p:cNvSpPr txBox="1"/>
          <p:nvPr/>
        </p:nvSpPr>
        <p:spPr>
          <a:xfrm>
            <a:off x="7126138" y="4579145"/>
            <a:ext cx="32512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800000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Security, Reliability, and Monitoring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BA862286-3BD6-330A-046B-DE1A079A90CF}"/>
              </a:ext>
            </a:extLst>
          </p:cNvPr>
          <p:cNvSpPr txBox="1"/>
          <p:nvPr/>
        </p:nvSpPr>
        <p:spPr>
          <a:xfrm>
            <a:off x="7126137" y="4908329"/>
            <a:ext cx="48159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malware scanning, rate limiting, audit logs, backups, centralized logging, metrics and alerting.</a:t>
            </a:r>
          </a:p>
        </p:txBody>
      </p:sp>
    </p:spTree>
    <p:extLst>
      <p:ext uri="{BB962C8B-B14F-4D97-AF65-F5344CB8AC3E}">
        <p14:creationId xmlns:p14="http://schemas.microsoft.com/office/powerpoint/2010/main" val="11806805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7. Bibliography and References</a:t>
            </a:r>
            <a:endParaRPr dirty="0"/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8A60CC79-BB07-197E-7A9A-8999BA03C185}"/>
              </a:ext>
            </a:extLst>
          </p:cNvPr>
          <p:cNvSpPr/>
          <p:nvPr/>
        </p:nvSpPr>
        <p:spPr>
          <a:xfrm>
            <a:off x="838150" y="2115409"/>
            <a:ext cx="5257800" cy="3321829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416B3-2257-51B5-7EB3-8B373D567C03}"/>
              </a:ext>
            </a:extLst>
          </p:cNvPr>
          <p:cNvSpPr/>
          <p:nvPr/>
        </p:nvSpPr>
        <p:spPr>
          <a:xfrm>
            <a:off x="838150" y="2115410"/>
            <a:ext cx="5257800" cy="56692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75C2E-29D6-C53B-55CC-7FC2A0845051}"/>
              </a:ext>
            </a:extLst>
          </p:cNvPr>
          <p:cNvSpPr txBox="1"/>
          <p:nvPr/>
        </p:nvSpPr>
        <p:spPr>
          <a:xfrm>
            <a:off x="1112470" y="2910938"/>
            <a:ext cx="46634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Herbert Schildt — Java: The Complete Reference</a:t>
            </a:r>
          </a:p>
          <a:p>
            <a:pPr>
              <a:spcAft>
                <a:spcPts val="20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Craig Walls — Spring in Action</a:t>
            </a:r>
          </a:p>
          <a:p>
            <a:pPr>
              <a:spcAft>
                <a:spcPts val="20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Elmasri &amp; Navathe — Fundamentals of Database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A4544-3691-70AF-DE4C-4530220857B6}"/>
              </a:ext>
            </a:extLst>
          </p:cNvPr>
          <p:cNvSpPr txBox="1"/>
          <p:nvPr/>
        </p:nvSpPr>
        <p:spPr>
          <a:xfrm>
            <a:off x="2442954" y="2243426"/>
            <a:ext cx="20024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REFERENCES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618039CE-05A8-F2F4-E0C5-6DEFE49603F5}"/>
              </a:ext>
            </a:extLst>
          </p:cNvPr>
          <p:cNvSpPr/>
          <p:nvPr/>
        </p:nvSpPr>
        <p:spPr>
          <a:xfrm>
            <a:off x="6370270" y="2115408"/>
            <a:ext cx="5257800" cy="3321829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A2ACD3-29C3-E249-3C02-7AC2AF646F97}"/>
              </a:ext>
            </a:extLst>
          </p:cNvPr>
          <p:cNvSpPr/>
          <p:nvPr/>
        </p:nvSpPr>
        <p:spPr>
          <a:xfrm>
            <a:off x="6370270" y="2115408"/>
            <a:ext cx="5257800" cy="6064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5995B-1854-2A54-D887-42FD540A1280}"/>
              </a:ext>
            </a:extLst>
          </p:cNvPr>
          <p:cNvSpPr txBox="1"/>
          <p:nvPr/>
        </p:nvSpPr>
        <p:spPr>
          <a:xfrm>
            <a:off x="8128161" y="2243425"/>
            <a:ext cx="16962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REFERENCES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5CE7B-3A81-1FD3-16E9-6993D713F385}"/>
              </a:ext>
            </a:extLst>
          </p:cNvPr>
          <p:cNvSpPr txBox="1"/>
          <p:nvPr/>
        </p:nvSpPr>
        <p:spPr>
          <a:xfrm>
            <a:off x="6644590" y="2910937"/>
            <a:ext cx="466344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Spring Boot Documentation — </a:t>
            </a:r>
            <a:r>
              <a:rPr lang="en-US" sz="1150" u="sng" dirty="0">
                <a:solidFill>
                  <a:srgbClr val="373737"/>
                </a:solidFill>
                <a:latin typeface="Aptos"/>
                <a:hlinkClick r:id="rId3"/>
              </a:rPr>
              <a:t>https://docs.spring.io/spring-boot/documentation.html</a:t>
            </a:r>
            <a:endParaRPr lang="en-IN" sz="1150" dirty="0">
              <a:solidFill>
                <a:srgbClr val="373737"/>
              </a:solidFill>
              <a:latin typeface="Aptos"/>
            </a:endParaRPr>
          </a:p>
          <a:p>
            <a:pPr>
              <a:spcAft>
                <a:spcPts val="13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React Documentation — </a:t>
            </a:r>
            <a:r>
              <a:rPr lang="en-US" sz="1150" u="sng" dirty="0">
                <a:solidFill>
                  <a:srgbClr val="373737"/>
                </a:solidFill>
                <a:latin typeface="Aptos"/>
                <a:hlinkClick r:id="rId4"/>
              </a:rPr>
              <a:t>https://react.dev/</a:t>
            </a:r>
            <a:r>
              <a:rPr lang="en-US" sz="1150" dirty="0">
                <a:solidFill>
                  <a:srgbClr val="373737"/>
                </a:solidFill>
                <a:latin typeface="Aptos"/>
              </a:rPr>
              <a:t> 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3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MySQL Documentation — </a:t>
            </a:r>
            <a:r>
              <a:rPr lang="en-US" sz="1150" u="sng" dirty="0">
                <a:solidFill>
                  <a:srgbClr val="373737"/>
                </a:solidFill>
                <a:latin typeface="Aptos"/>
                <a:hlinkClick r:id="rId5"/>
              </a:rPr>
              <a:t>https://dev.mysql.com/doc/</a:t>
            </a:r>
            <a:r>
              <a:rPr lang="en-US" sz="1150" dirty="0">
                <a:solidFill>
                  <a:srgbClr val="373737"/>
                </a:solidFill>
                <a:latin typeface="Aptos"/>
              </a:rPr>
              <a:t> </a:t>
            </a:r>
            <a:endParaRPr lang="en-IN" sz="1150" dirty="0">
              <a:solidFill>
                <a:srgbClr val="373737"/>
              </a:solidFill>
              <a:latin typeface="Aptos"/>
            </a:endParaRPr>
          </a:p>
          <a:p>
            <a:pPr>
              <a:spcAft>
                <a:spcPts val="1300"/>
              </a:spcAft>
              <a:defRPr sz="1150">
                <a:solidFill>
                  <a:srgbClr val="373737"/>
                </a:solidFill>
                <a:latin typeface="Aptos"/>
              </a:defRPr>
            </a:pP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FFmpeg Documentation — </a:t>
            </a:r>
            <a:r>
              <a:rPr lang="en-US" sz="1150" u="sng" dirty="0">
                <a:solidFill>
                  <a:srgbClr val="373737"/>
                </a:solidFill>
                <a:latin typeface="Aptos"/>
                <a:hlinkClick r:id="rId6"/>
              </a:rPr>
              <a:t>https://ffmpeg.org/documentation.html</a:t>
            </a:r>
            <a:r>
              <a:rPr lang="en-US" sz="1150" dirty="0">
                <a:solidFill>
                  <a:srgbClr val="373737"/>
                </a:solidFill>
                <a:latin typeface="Aptos"/>
              </a:rPr>
              <a:t> 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8644</TotalTime>
  <Words>3217</Words>
  <Application>Microsoft Office PowerPoint</Application>
  <PresentationFormat>Widescreen</PresentationFormat>
  <Paragraphs>893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MS Mincho</vt:lpstr>
      <vt:lpstr>Aptos</vt:lpstr>
      <vt:lpstr>Arial</vt:lpstr>
      <vt:lpstr>Calibri</vt:lpstr>
      <vt:lpstr>Cambria</vt:lpstr>
      <vt:lpstr>Times New Roman</vt:lpstr>
      <vt:lpstr>Office Theme</vt:lpstr>
      <vt:lpstr>PowerPoint Presentation</vt:lpstr>
      <vt:lpstr>1.1 Project Profile</vt:lpstr>
      <vt:lpstr>1.2 About Organization</vt:lpstr>
      <vt:lpstr>2.1 Problem Statement</vt:lpstr>
      <vt:lpstr>2.2 Existing System</vt:lpstr>
      <vt:lpstr>2.2.1 Drawbacks </vt:lpstr>
      <vt:lpstr>2.3 Proposed Systems</vt:lpstr>
      <vt:lpstr>2.3.1 Comparison Study</vt:lpstr>
      <vt:lpstr>2.3.2 Modules </vt:lpstr>
      <vt:lpstr>3.1 Hardware Requirements</vt:lpstr>
      <vt:lpstr>3.2 Software Requirements </vt:lpstr>
      <vt:lpstr>  3.3 Programming Environment</vt:lpstr>
      <vt:lpstr>3.3.1 About Front-End</vt:lpstr>
      <vt:lpstr>3.3.2 About Back-End</vt:lpstr>
      <vt:lpstr>4.1 Time Line Chart</vt:lpstr>
      <vt:lpstr>4.2 Data Dictionary</vt:lpstr>
      <vt:lpstr>4.2 Data Dictionary</vt:lpstr>
      <vt:lpstr>4.2 Data Dictionary</vt:lpstr>
      <vt:lpstr>4.2 Data Dictionary</vt:lpstr>
      <vt:lpstr>4.3 ER Diagram</vt:lpstr>
      <vt:lpstr>4.4.1 Use Case Diagrams</vt:lpstr>
      <vt:lpstr>4.4.2 Activity Diagrams</vt:lpstr>
      <vt:lpstr>4.4.2 Activity Diagrams</vt:lpstr>
      <vt:lpstr>4.4.2 Activity Diagrams</vt:lpstr>
      <vt:lpstr>4.4.3 Sequence Diagrams</vt:lpstr>
      <vt:lpstr>4.4.3 Sequence Diagrams</vt:lpstr>
      <vt:lpstr>4.4.3 Sequence Diagrams</vt:lpstr>
      <vt:lpstr>4.4.4 Collaboration Diagrams</vt:lpstr>
      <vt:lpstr>4.4.5 Class Diagrams</vt:lpstr>
      <vt:lpstr>4.5 Input Design</vt:lpstr>
      <vt:lpstr>4.5.1 User Registration Form</vt:lpstr>
      <vt:lpstr>4.5.2 Email OTP Verification</vt:lpstr>
      <vt:lpstr>4.5.3 User Login Form</vt:lpstr>
      <vt:lpstr>4.5.4 Admin Login Form</vt:lpstr>
      <vt:lpstr>4.5.5 Video Upload Form</vt:lpstr>
      <vt:lpstr>4.5.6 Edit Video Form</vt:lpstr>
      <vt:lpstr>4.5.7 Comment Input</vt:lpstr>
      <vt:lpstr>4.5.8 Feedback Form</vt:lpstr>
      <vt:lpstr>4.5.9 Category Management Form</vt:lpstr>
      <vt:lpstr>4.5.10 Edit Category Form</vt:lpstr>
      <vt:lpstr>4.5.11 Search Bar</vt:lpstr>
      <vt:lpstr>4.6 Output Design</vt:lpstr>
      <vt:lpstr>4.6.1 Home Page (Video Feed)</vt:lpstr>
      <vt:lpstr>4.6.2 Video Watch Page</vt:lpstr>
      <vt:lpstr>4.6.3 User Channel Page</vt:lpstr>
      <vt:lpstr>4.6.4 My Videos Page (User Dashboard)</vt:lpstr>
      <vt:lpstr>4.6.5 User Profile Page</vt:lpstr>
      <vt:lpstr>4.6.6 Admin Dashboard</vt:lpstr>
      <vt:lpstr> 4.6.7 Admin – Manage Users</vt:lpstr>
      <vt:lpstr>4.6.8 Admin – Manage Videos</vt:lpstr>
      <vt:lpstr>4.6.9 Admin – Manage Categories</vt:lpstr>
      <vt:lpstr>4.6.10 Admin – Manage Comments</vt:lpstr>
      <vt:lpstr>4.6.11 Admin – View Feedback</vt:lpstr>
      <vt:lpstr>4.6.12 Logout Page</vt:lpstr>
      <vt:lpstr>5.1 System Testing</vt:lpstr>
      <vt:lpstr>5.1.1 Output Testing</vt:lpstr>
      <vt:lpstr>5.1.1 Output Testing</vt:lpstr>
      <vt:lpstr>5.1.1 Output Testing</vt:lpstr>
      <vt:lpstr>5.1.1 Output Testing</vt:lpstr>
      <vt:lpstr>5.1.1 Output Testing</vt:lpstr>
      <vt:lpstr>5.1.1 Output Testing</vt:lpstr>
      <vt:lpstr>5.1.2 Validation &amp; Verification Testing</vt:lpstr>
      <vt:lpstr>5.1.2 Validation &amp; Verification Testing</vt:lpstr>
      <vt:lpstr>5.1.2 Validation &amp; Verification Testing</vt:lpstr>
      <vt:lpstr>5.1.2 Validation &amp; Verification Testing</vt:lpstr>
      <vt:lpstr>5.1.2 Validation &amp; Verification Testing</vt:lpstr>
      <vt:lpstr>5.1.2 Validation &amp; Verification Testing</vt:lpstr>
      <vt:lpstr>5.1.2 Validation &amp; Verification Testing</vt:lpstr>
      <vt:lpstr>6. Conclusion and Future Enhancement</vt:lpstr>
      <vt:lpstr>6. Conclusion and Future Enhancement</vt:lpstr>
      <vt:lpstr>7. Bibliography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kaneriyaneha29@outlook.com</cp:lastModifiedBy>
  <cp:revision>647</cp:revision>
  <dcterms:modified xsi:type="dcterms:W3CDTF">2026-09-25T05:28:27Z</dcterms:modified>
</cp:coreProperties>
</file>