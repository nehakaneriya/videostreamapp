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0" r:id="rId13"/>
    <p:sldId id="281" r:id="rId14"/>
    <p:sldId id="282" r:id="rId15"/>
    <p:sldId id="268" r:id="rId16"/>
    <p:sldId id="283" r:id="rId17"/>
    <p:sldId id="269" r:id="rId18"/>
    <p:sldId id="270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797675" cy="98726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CF2F2"/>
    <a:srgbClr val="EBA799"/>
    <a:srgbClr val="B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3" autoAdjust="0"/>
    <p:restoredTop sz="94660"/>
  </p:normalViewPr>
  <p:slideViewPr>
    <p:cSldViewPr snapToGrid="0">
      <p:cViewPr varScale="1">
        <p:scale>
          <a:sx n="90" d="100"/>
          <a:sy n="90" d="100"/>
        </p:scale>
        <p:origin x="552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3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3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7316"/>
            <a:ext cx="2945659" cy="493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659" cy="493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26068f6ec_0_0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g3f26068f6e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26068f6e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4" name="Google Shape;104;g3f26068f6ec_0_5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f26068f6ec_0_5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26068f6e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11" name="Google Shape;111;g3f26068f6ec_0_11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3f26068f6ec_0_11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26068f6e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18" name="Google Shape;118;g3f26068f6ec_0_17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f26068f6ec_0_17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26068f6ec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5" name="Google Shape;125;g3f26068f6ec_0_23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6" name="Google Shape;126;g3f26068f6ec_0_23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26068f6e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32" name="Google Shape;132;g3f26068f6ec_0_29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3f26068f6ec_0_29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26068f6ec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39" name="Google Shape;139;g3f26068f6ec_0_35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f26068f6ec_0_35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26068f6e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46" name="Google Shape;146;g3f26068f6ec_0_41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f26068f6ec_0_41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26068f6ec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3" name="Google Shape;153;g3f26068f6ec_0_47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3f26068f6ec_0_47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26068f6ec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60" name="Google Shape;160;g3f26068f6ec_0_53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f26068f6ec_0_53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0ACD792E-6D7D-03EA-6247-C5118F66F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26068f6ec_0_53:notes">
            <a:extLst>
              <a:ext uri="{FF2B5EF4-FFF2-40B4-BE49-F238E27FC236}">
                <a16:creationId xmlns:a16="http://schemas.microsoft.com/office/drawing/2014/main" id="{3AE9B5B7-53E1-D52A-1024-B22DDFC559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60" name="Google Shape;160;g3f26068f6ec_0_53:notes">
            <a:extLst>
              <a:ext uri="{FF2B5EF4-FFF2-40B4-BE49-F238E27FC236}">
                <a16:creationId xmlns:a16="http://schemas.microsoft.com/office/drawing/2014/main" id="{536102BB-2C7D-94C7-44E0-E860FF17DB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f26068f6ec_0_53:notes">
            <a:extLst>
              <a:ext uri="{FF2B5EF4-FFF2-40B4-BE49-F238E27FC236}">
                <a16:creationId xmlns:a16="http://schemas.microsoft.com/office/drawing/2014/main" id="{28352773-1DB0-A29D-66AA-38200D13CF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45900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7641A09C-CB91-0D9B-4EF1-672905509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26068f6ec_0_53:notes">
            <a:extLst>
              <a:ext uri="{FF2B5EF4-FFF2-40B4-BE49-F238E27FC236}">
                <a16:creationId xmlns:a16="http://schemas.microsoft.com/office/drawing/2014/main" id="{278439F2-44C2-5FA9-F5A4-51F10CCEDD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60" name="Google Shape;160;g3f26068f6ec_0_53:notes">
            <a:extLst>
              <a:ext uri="{FF2B5EF4-FFF2-40B4-BE49-F238E27FC236}">
                <a16:creationId xmlns:a16="http://schemas.microsoft.com/office/drawing/2014/main" id="{394BD770-2BF9-8012-11A5-206248A0C7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f26068f6ec_0_53:notes">
            <a:extLst>
              <a:ext uri="{FF2B5EF4-FFF2-40B4-BE49-F238E27FC236}">
                <a16:creationId xmlns:a16="http://schemas.microsoft.com/office/drawing/2014/main" id="{826A7A5A-3D14-CBB9-DFA0-FD4C77973C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36217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1A6E2ED3-DA0A-240A-1C74-2023AB78B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26068f6ec_0_53:notes">
            <a:extLst>
              <a:ext uri="{FF2B5EF4-FFF2-40B4-BE49-F238E27FC236}">
                <a16:creationId xmlns:a16="http://schemas.microsoft.com/office/drawing/2014/main" id="{D4FE7ABB-7A92-3572-4D7D-2962772F50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60" name="Google Shape;160;g3f26068f6ec_0_53:notes">
            <a:extLst>
              <a:ext uri="{FF2B5EF4-FFF2-40B4-BE49-F238E27FC236}">
                <a16:creationId xmlns:a16="http://schemas.microsoft.com/office/drawing/2014/main" id="{D20243EB-3871-40B8-AE9C-742CE812A4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f26068f6ec_0_53:notes">
            <a:extLst>
              <a:ext uri="{FF2B5EF4-FFF2-40B4-BE49-F238E27FC236}">
                <a16:creationId xmlns:a16="http://schemas.microsoft.com/office/drawing/2014/main" id="{E5D9D177-60FC-FF58-EB35-7042A74D87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49231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26068f6ec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74" name="Google Shape;174;g3f26068f6ec_0_65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f26068f6ec_0_65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57B552B3-A499-19D4-664D-F8D586A73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26068f6ec_0_65:notes">
            <a:extLst>
              <a:ext uri="{FF2B5EF4-FFF2-40B4-BE49-F238E27FC236}">
                <a16:creationId xmlns:a16="http://schemas.microsoft.com/office/drawing/2014/main" id="{B8E3D678-A95F-84F4-694A-5887FE3816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74" name="Google Shape;174;g3f26068f6ec_0_65:notes">
            <a:extLst>
              <a:ext uri="{FF2B5EF4-FFF2-40B4-BE49-F238E27FC236}">
                <a16:creationId xmlns:a16="http://schemas.microsoft.com/office/drawing/2014/main" id="{8D7CF9DC-A4C7-BA26-EFCC-E9D98726B2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f26068f6ec_0_65:notes">
            <a:extLst>
              <a:ext uri="{FF2B5EF4-FFF2-40B4-BE49-F238E27FC236}">
                <a16:creationId xmlns:a16="http://schemas.microsoft.com/office/drawing/2014/main" id="{F9E04EB1-EE16-B463-4D71-1AE55DD57B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20400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26068f6ec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81" name="Google Shape;181;g3f26068f6ec_0_71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f26068f6ec_0_71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26068f6ec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88" name="Google Shape;188;g3f26068f6ec_0_77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3f26068f6ec_0_77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26068f6ec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2" name="Google Shape;202;g3f26068f6ec_0_89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3f26068f6ec_0_89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26068f6ec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9" name="Google Shape;209;g3f26068f6ec_0_95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3f26068f6ec_0_95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26068f6ec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16" name="Google Shape;216;g3f26068f6ec_0_101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3f26068f6ec_0_101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26068f6ec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3" name="Google Shape;223;g3f26068f6ec_0_107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3f26068f6ec_0_107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26068f6ec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0" name="Google Shape;230;g3f26068f6ec_0_113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f26068f6ec_0_113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26068f6ec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7" name="Google Shape;237;g3f26068f6ec_0_119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f26068f6ec_0_119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26068f6ec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44" name="Google Shape;244;g3f26068f6ec_0_125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3f26068f6ec_0_125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26068f6ec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51" name="Google Shape;251;g3f26068f6ec_0_131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3f26068f6ec_0_131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6203567"/>
            <a:ext cx="12191996" cy="69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-2"/>
            <a:ext cx="12191996" cy="559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858874"/>
            <a:ext cx="53847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197600" y="1858974"/>
            <a:ext cx="53847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609600" y="1876926"/>
            <a:ext cx="5386800" cy="42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4"/>
          </p:nvPr>
        </p:nvSpPr>
        <p:spPr>
          <a:xfrm>
            <a:off x="6193368" y="1911350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4766725" y="273050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2"/>
          </p:nvPr>
        </p:nvSpPr>
        <p:spPr>
          <a:xfrm>
            <a:off x="609600" y="1913024"/>
            <a:ext cx="4011000" cy="42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" y="6203567"/>
            <a:ext cx="12191996" cy="69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27000" y="541450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914400" y="1120914"/>
            <a:ext cx="10363200" cy="792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StreamHub – Full-Stack Video Streaming Platform</a:t>
            </a:r>
            <a:endParaRPr lang="en-IN" sz="2000" b="1" dirty="0">
              <a:solidFill>
                <a:srgbClr val="C00000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476500" y="1754202"/>
            <a:ext cx="7239000" cy="334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IN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by</a:t>
            </a:r>
            <a:endParaRPr sz="20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Candidate Name:</a:t>
            </a:r>
            <a:r>
              <a:rPr lang="en-IN" sz="20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Neha Kaneriya </a:t>
            </a:r>
            <a:endParaRPr sz="20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Enrolment</a:t>
            </a:r>
            <a:r>
              <a:rPr lang="en-IN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No.:</a:t>
            </a:r>
            <a:r>
              <a:rPr lang="en-IN" sz="20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25034211020</a:t>
            </a:r>
          </a:p>
          <a:p>
            <a:pPr lvl="0" algn="ctr">
              <a:spcBef>
                <a:spcPts val="800"/>
              </a:spcBef>
            </a:pP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Candidate Name:</a:t>
            </a: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Vidhi Kansagara </a:t>
            </a:r>
          </a:p>
          <a:p>
            <a:pPr lvl="0" algn="ctr">
              <a:spcBef>
                <a:spcPts val="600"/>
              </a:spcBef>
            </a:pP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Enrolment. No.:</a:t>
            </a: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25034211021</a:t>
            </a:r>
          </a:p>
          <a:p>
            <a:pPr lvl="0" algn="ctr">
              <a:spcBef>
                <a:spcPts val="600"/>
              </a:spcBef>
            </a:pPr>
            <a:endParaRPr sz="20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20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to  </a:t>
            </a: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MCA Department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 Patel Institute of Computer Studies</a:t>
            </a:r>
            <a:endParaRPr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8811" y="5386596"/>
            <a:ext cx="1951589" cy="633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76200" y="488809"/>
            <a:ext cx="113607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dirty="0"/>
              <a:t>1.1 Project Profile</a:t>
            </a:r>
            <a:endParaRPr b="1" dirty="0">
              <a:solidFill>
                <a:srgbClr val="FF0000"/>
              </a:solidFill>
            </a:endParaRPr>
          </a:p>
        </p:txBody>
      </p:sp>
      <p:graphicFrame>
        <p:nvGraphicFramePr>
          <p:cNvPr id="102" name="Table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55087"/>
              </p:ext>
            </p:extLst>
          </p:nvPr>
        </p:nvGraphicFramePr>
        <p:xfrm>
          <a:off x="1510781" y="1432337"/>
          <a:ext cx="9792384" cy="4552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7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4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4127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Project Profile</a:t>
                      </a:r>
                    </a:p>
                  </a:txBody>
                  <a:tcPr marT="31227" marB="31227" anchor="ctr">
                    <a:solidFill>
                      <a:srgbClr val="B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Details</a:t>
                      </a:r>
                    </a:p>
                  </a:txBody>
                  <a:tcPr marT="31227" marB="31227" anchor="ctr">
                    <a:solidFill>
                      <a:srgbClr val="B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27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Project Title</a:t>
                      </a:r>
                    </a:p>
                  </a:txBody>
                  <a:tcPr marT="31227" marB="312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StreamHub – Full-Stack Video Streaming Platform</a:t>
                      </a:r>
                    </a:p>
                  </a:txBody>
                  <a:tcPr marT="31227" marB="3122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127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Project Type</a:t>
                      </a:r>
                      <a:endParaRPr sz="1500" b="1" dirty="0">
                        <a:solidFill>
                          <a:srgbClr val="191919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31227" marB="312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Web-Based Full-Stack Application</a:t>
                      </a:r>
                    </a:p>
                  </a:txBody>
                  <a:tcPr marT="31227" marB="3122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545240"/>
                  </a:ext>
                </a:extLst>
              </a:tr>
              <a:tr h="505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500" b="1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Objective</a:t>
                      </a:r>
                    </a:p>
                  </a:txBody>
                  <a:tcPr marT="31227" marB="312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 develop a customizable, secure, and full-stack video streaming platform with adaptive HLS streaming, user authentication, role-based access, and administrative management.</a:t>
                      </a:r>
                      <a:endParaRPr lang="en-US" sz="1500" b="0" dirty="0">
                        <a:solidFill>
                          <a:srgbClr val="191919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31227" marB="3122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033188"/>
                  </a:ext>
                </a:extLst>
              </a:tr>
              <a:tr h="2841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Group No.</a:t>
                      </a:r>
                    </a:p>
                  </a:txBody>
                  <a:tcPr marT="31227" marB="312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04</a:t>
                      </a:r>
                      <a:endParaRPr sz="1500" b="0" dirty="0">
                        <a:solidFill>
                          <a:srgbClr val="191919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31227" marB="3122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800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Technology Stack</a:t>
                      </a:r>
                    </a:p>
                  </a:txBody>
                  <a:tcPr marT="31227" marB="312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React.js, TypeScript, Vite, Tailwind CSS | Java, Spring Boot, Spring Security, Spring Data JPA</a:t>
                      </a:r>
                      <a:r>
                        <a:rPr lang="en-IN"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Redis</a:t>
                      </a:r>
                      <a:endParaRPr sz="1500" b="0" dirty="0">
                        <a:solidFill>
                          <a:srgbClr val="191919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31227" marB="3122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36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Database &amp; Streaming</a:t>
                      </a:r>
                    </a:p>
                  </a:txBody>
                  <a:tcPr marT="31227" marB="312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MySQL</a:t>
                      </a:r>
                      <a:r>
                        <a:rPr lang="en-IN"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Redis</a:t>
                      </a:r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| HTTP Live Streaming (HLS) – </a:t>
                      </a:r>
                      <a:r>
                        <a:rPr sz="16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Adaptive</a:t>
                      </a:r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Bitrate Streaming</a:t>
                      </a:r>
                      <a:r>
                        <a:rPr lang="en-IN"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sz="1500" b="0" dirty="0">
                        <a:solidFill>
                          <a:srgbClr val="191919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31227" marB="3122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127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Authentication &amp; API</a:t>
                      </a:r>
                    </a:p>
                  </a:txBody>
                  <a:tcPr marT="31227" marB="312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JWT-Based Authentication with OAuth2 Login Support | Swagger / OpenAPI</a:t>
                      </a:r>
                    </a:p>
                  </a:txBody>
                  <a:tcPr marT="31227" marB="3122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127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Tools &amp; IDE</a:t>
                      </a:r>
                    </a:p>
                  </a:txBody>
                  <a:tcPr marT="31227" marB="312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IntelliJ IDEA, VS Code, Postman, Maven, Git &amp; GitHub</a:t>
                      </a:r>
                      <a:r>
                        <a:rPr lang="en-IN"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FFmpeg</a:t>
                      </a:r>
                      <a:endParaRPr sz="1500" b="0" dirty="0">
                        <a:solidFill>
                          <a:srgbClr val="191919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31227" marB="3122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127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Operating System</a:t>
                      </a:r>
                    </a:p>
                  </a:txBody>
                  <a:tcPr marT="31227" marB="312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Windows</a:t>
                      </a:r>
                      <a:r>
                        <a:rPr lang="en-GB"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11</a:t>
                      </a:r>
                      <a:endParaRPr sz="1500" b="0" dirty="0">
                        <a:solidFill>
                          <a:srgbClr val="191919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31227" marB="3122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127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Project Duration</a:t>
                      </a:r>
                    </a:p>
                  </a:txBody>
                  <a:tcPr marT="31227" marB="312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MCA Semester III (2025–2027)</a:t>
                      </a:r>
                    </a:p>
                  </a:txBody>
                  <a:tcPr marT="31227" marB="3122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127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Project Guide</a:t>
                      </a:r>
                    </a:p>
                  </a:txBody>
                  <a:tcPr marT="31227" marB="312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Dr. Aruna Gu</a:t>
                      </a:r>
                      <a:r>
                        <a:rPr lang="en-IN"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jar</a:t>
                      </a:r>
                    </a:p>
                  </a:txBody>
                  <a:tcPr marT="31227" marB="3122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127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Coordinator / Principal</a:t>
                      </a:r>
                    </a:p>
                  </a:txBody>
                  <a:tcPr marT="31227" marB="312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Dr.</a:t>
                      </a:r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C. D. Patel | Dr. Nirbhay Chaubey</a:t>
                      </a:r>
                    </a:p>
                  </a:txBody>
                  <a:tcPr marT="31227" marB="3122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127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Submitted By</a:t>
                      </a:r>
                    </a:p>
                  </a:txBody>
                  <a:tcPr marT="31227" marB="312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Neha V. </a:t>
                      </a:r>
                      <a:r>
                        <a:rPr lang="en-US"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Kaneriya</a:t>
                      </a:r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&amp; Vidhi K. Kansagara</a:t>
                      </a:r>
                    </a:p>
                  </a:txBody>
                  <a:tcPr marT="31227" marB="3122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395B462C-C25E-86B1-C717-BC80D86D3870}"/>
              </a:ext>
            </a:extLst>
          </p:cNvPr>
          <p:cNvSpPr/>
          <p:nvPr/>
        </p:nvSpPr>
        <p:spPr>
          <a:xfrm>
            <a:off x="777240" y="1900238"/>
            <a:ext cx="10637520" cy="742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FFD7A2-B0F6-669E-F950-D8D9EC280095}"/>
              </a:ext>
            </a:extLst>
          </p:cNvPr>
          <p:cNvSpPr/>
          <p:nvPr/>
        </p:nvSpPr>
        <p:spPr>
          <a:xfrm>
            <a:off x="777240" y="2643188"/>
            <a:ext cx="10637520" cy="20271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E641B4-A12D-F0FC-6FAD-4AC4A36D0523}"/>
              </a:ext>
            </a:extLst>
          </p:cNvPr>
          <p:cNvSpPr/>
          <p:nvPr/>
        </p:nvSpPr>
        <p:spPr>
          <a:xfrm>
            <a:off x="777240" y="4670323"/>
            <a:ext cx="10659660" cy="15409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1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1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00"/>
                            </p:stCondLst>
                            <p:childTnLst>
                              <p:par>
                                <p:cTn id="17" presetID="10" presetClass="entr" presetSubtype="0" fill="hold" grpId="0" nodeType="afterEffect" nodePh="1">
                                  <p:stCondLst>
                                    <p:cond delay="1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1.2 About Organization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5ABA5-3415-695A-7F87-C3A65D42B080}"/>
              </a:ext>
            </a:extLst>
          </p:cNvPr>
          <p:cNvSpPr txBox="1"/>
          <p:nvPr/>
        </p:nvSpPr>
        <p:spPr>
          <a:xfrm>
            <a:off x="1150349" y="1502648"/>
            <a:ext cx="9891201" cy="4221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18800">
              <a:spcBef>
                <a:spcPts val="50"/>
              </a:spcBef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About College</a:t>
            </a:r>
          </a:p>
          <a:p>
            <a:pPr marL="166950" lvl="8">
              <a:spcBef>
                <a:spcPts val="50"/>
              </a:spcBef>
              <a:spcAft>
                <a:spcPts val="50"/>
              </a:spcAf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Acharya Moti bhai Patel Institute of Computer Studies (AMPICS) is a reputed           	institute specializing in Computer Applications and Information Technology. It 	focuses on quality education, technical skills, innovation, and industry-oriented 	learning.</a:t>
            </a:r>
          </a:p>
          <a:p>
            <a:pPr marL="285750" indent="-118800">
              <a:spcBef>
                <a:spcPts val="50"/>
              </a:spcBef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About University</a:t>
            </a:r>
          </a:p>
          <a:p>
            <a:pPr marL="166950">
              <a:spcBef>
                <a:spcPts val="50"/>
              </a:spcBef>
              <a:spcAft>
                <a:spcPts val="5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Ganpat University (GUNI) is a multidisciplinary university in Gujarat offering 	programs across various fields. It focuses on education, research, innovation, and 	skill development. AMPICS is a constituent institute of Ganpat University.</a:t>
            </a:r>
          </a:p>
          <a:p>
            <a:pPr marL="285750" indent="-118800">
              <a:spcBef>
                <a:spcPts val="50"/>
              </a:spcBef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About Program</a:t>
            </a:r>
          </a:p>
          <a:p>
            <a:pPr marL="166950">
              <a:spcBef>
                <a:spcPts val="50"/>
              </a:spcBef>
              <a:spcAft>
                <a:spcPts val="50"/>
              </a:spcAf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The Master of Computer Applications (MCA) is a postgraduate program focused on 	software development, programming, database management, web technologies, 	and modern computing practices.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2.1 Problem Statement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DC38C5-559D-A772-44A0-ABA0AC25A4D1}"/>
              </a:ext>
            </a:extLst>
          </p:cNvPr>
          <p:cNvSpPr txBox="1"/>
          <p:nvPr/>
        </p:nvSpPr>
        <p:spPr>
          <a:xfrm>
            <a:off x="1130710" y="2067875"/>
            <a:ext cx="10432025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 video storage and direct playback can cause slow loading, buffering, and poor streaming performance.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Without role-based access control, separating user and administrator responsibilities becomes difficult.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hosting solutions may lack secure authentication and proper user management.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Managing video uploads, users, feedback, and administrative activities can become complex and unorganized.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D85075B-5A56-9CD3-F3B5-1A76E15578EC}"/>
              </a:ext>
            </a:extLst>
          </p:cNvPr>
          <p:cNvSpPr/>
          <p:nvPr/>
        </p:nvSpPr>
        <p:spPr>
          <a:xfrm>
            <a:off x="1877960" y="4499310"/>
            <a:ext cx="8937523" cy="1071716"/>
          </a:xfrm>
          <a:prstGeom prst="roundRect">
            <a:avLst/>
          </a:prstGeom>
          <a:solidFill>
            <a:srgbClr val="FC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 management can become complex and unorganized; StreamHub improves this through centralized management of users, videos, and feedback.</a:t>
            </a:r>
            <a:endParaRPr lang="en-IN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2.2 Existing System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4ACC8B-3F62-6E60-0188-1A3A6321B57D}"/>
              </a:ext>
            </a:extLst>
          </p:cNvPr>
          <p:cNvSpPr txBox="1"/>
          <p:nvPr/>
        </p:nvSpPr>
        <p:spPr>
          <a:xfrm>
            <a:off x="722621" y="1914832"/>
            <a:ext cx="10746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video-streaming solutions were studied, including: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EC07111-51D5-BBFD-5242-B50CDC1DC96F}"/>
              </a:ext>
            </a:extLst>
          </p:cNvPr>
          <p:cNvSpPr/>
          <p:nvPr/>
        </p:nvSpPr>
        <p:spPr>
          <a:xfrm>
            <a:off x="2399071" y="2700693"/>
            <a:ext cx="7000568" cy="1347019"/>
          </a:xfrm>
          <a:prstGeom prst="roundRect">
            <a:avLst/>
          </a:prstGeom>
          <a:solidFill>
            <a:srgbClr val="FC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ClipBucket :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open-source video-sharing environment</a:t>
            </a:r>
          </a:p>
          <a:p>
            <a:pPr algn="ctr"/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PeerTube :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self-hosted and federated video streaming</a:t>
            </a:r>
          </a:p>
          <a:p>
            <a:pPr algn="ctr"/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Datarhei Restreamer: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video streaming and stream management</a:t>
            </a:r>
            <a:endParaRPr lang="en-IN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A564E5-229B-D4B5-D95E-1D91FC1CA2A8}"/>
              </a:ext>
            </a:extLst>
          </p:cNvPr>
          <p:cNvSpPr txBox="1"/>
          <p:nvPr/>
        </p:nvSpPr>
        <p:spPr>
          <a:xfrm>
            <a:off x="798846" y="4398155"/>
            <a:ext cx="10594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platforms provide useful streaming capabilities, but their architectures and workflows are designed for their own specific purposes.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2.2.1 Drawbacks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CB8254-6A30-BE66-315B-889C43B44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22531"/>
              </p:ext>
            </p:extLst>
          </p:nvPr>
        </p:nvGraphicFramePr>
        <p:xfrm>
          <a:off x="973393" y="1753834"/>
          <a:ext cx="10618788" cy="4040372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2435852">
                  <a:extLst>
                    <a:ext uri="{9D8B030D-6E8A-4147-A177-3AD203B41FA5}">
                      <a16:colId xmlns:a16="http://schemas.microsoft.com/office/drawing/2014/main" val="2025901178"/>
                    </a:ext>
                  </a:extLst>
                </a:gridCol>
                <a:gridCol w="2017189">
                  <a:extLst>
                    <a:ext uri="{9D8B030D-6E8A-4147-A177-3AD203B41FA5}">
                      <a16:colId xmlns:a16="http://schemas.microsoft.com/office/drawing/2014/main" val="399290159"/>
                    </a:ext>
                  </a:extLst>
                </a:gridCol>
                <a:gridCol w="1998159">
                  <a:extLst>
                    <a:ext uri="{9D8B030D-6E8A-4147-A177-3AD203B41FA5}">
                      <a16:colId xmlns:a16="http://schemas.microsoft.com/office/drawing/2014/main" val="1156952480"/>
                    </a:ext>
                  </a:extLst>
                </a:gridCol>
                <a:gridCol w="2043831">
                  <a:extLst>
                    <a:ext uri="{9D8B030D-6E8A-4147-A177-3AD203B41FA5}">
                      <a16:colId xmlns:a16="http://schemas.microsoft.com/office/drawing/2014/main" val="2867136813"/>
                    </a:ext>
                  </a:extLst>
                </a:gridCol>
                <a:gridCol w="2123757">
                  <a:extLst>
                    <a:ext uri="{9D8B030D-6E8A-4147-A177-3AD203B41FA5}">
                      <a16:colId xmlns:a16="http://schemas.microsoft.com/office/drawing/2014/main" val="81719771"/>
                    </a:ext>
                  </a:extLst>
                </a:gridCol>
              </a:tblGrid>
              <a:tr h="5951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Aspect</a:t>
                      </a:r>
                      <a:endParaRPr lang="en-IN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ClipBucket</a:t>
                      </a:r>
                      <a:endParaRPr lang="en-IN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PeerTube</a:t>
                      </a:r>
                      <a:endParaRPr lang="en-IN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Datarhei Restreamer</a:t>
                      </a:r>
                      <a:endParaRPr lang="en-IN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StreamHub</a:t>
                      </a:r>
                      <a:endParaRPr lang="en-IN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34350" marB="34350" anchor="ctr"/>
                </a:tc>
                <a:extLst>
                  <a:ext uri="{0D108BD9-81ED-4DB2-BD59-A6C34878D82A}">
                    <a16:rowId xmlns:a16="http://schemas.microsoft.com/office/drawing/2014/main" val="557663591"/>
                  </a:ext>
                </a:extLst>
              </a:tr>
              <a:tr h="331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Video Streaming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extLst>
                  <a:ext uri="{0D108BD9-81ED-4DB2-BD59-A6C34878D82A}">
                    <a16:rowId xmlns:a16="http://schemas.microsoft.com/office/drawing/2014/main" val="4153322710"/>
                  </a:ext>
                </a:extLst>
              </a:tr>
              <a:tr h="331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Role-Based Access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extLst>
                  <a:ext uri="{0D108BD9-81ED-4DB2-BD59-A6C34878D82A}">
                    <a16:rowId xmlns:a16="http://schemas.microsoft.com/office/drawing/2014/main" val="2566644496"/>
                  </a:ext>
                </a:extLst>
              </a:tr>
              <a:tr h="331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Google OAuth2 Login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extLst>
                  <a:ext uri="{0D108BD9-81ED-4DB2-BD59-A6C34878D82A}">
                    <a16:rowId xmlns:a16="http://schemas.microsoft.com/office/drawing/2014/main" val="1817551291"/>
                  </a:ext>
                </a:extLst>
              </a:tr>
              <a:tr h="595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Refresh-Token Rotation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extLst>
                  <a:ext uri="{0D108BD9-81ED-4DB2-BD59-A6C34878D82A}">
                    <a16:rowId xmlns:a16="http://schemas.microsoft.com/office/drawing/2014/main" val="240626839"/>
                  </a:ext>
                </a:extLst>
              </a:tr>
              <a:tr h="331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Email Verification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extLst>
                  <a:ext uri="{0D108BD9-81ED-4DB2-BD59-A6C34878D82A}">
                    <a16:rowId xmlns:a16="http://schemas.microsoft.com/office/drawing/2014/main" val="3762277838"/>
                  </a:ext>
                </a:extLst>
              </a:tr>
              <a:tr h="331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User Comments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extLst>
                  <a:ext uri="{0D108BD9-81ED-4DB2-BD59-A6C34878D82A}">
                    <a16:rowId xmlns:a16="http://schemas.microsoft.com/office/drawing/2014/main" val="3478458597"/>
                  </a:ext>
                </a:extLst>
              </a:tr>
              <a:tr h="595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Platform Feedback Module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extLst>
                  <a:ext uri="{0D108BD9-81ED-4DB2-BD59-A6C34878D82A}">
                    <a16:rowId xmlns:a16="http://schemas.microsoft.com/office/drawing/2014/main" val="832425782"/>
                  </a:ext>
                </a:extLst>
              </a:tr>
              <a:tr h="595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 Admin Workflow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extLst>
                  <a:ext uri="{0D108BD9-81ED-4DB2-BD59-A6C34878D82A}">
                    <a16:rowId xmlns:a16="http://schemas.microsoft.com/office/drawing/2014/main" val="33781007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2.3 Proposed Systems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F9935A-DE8F-3D2A-A485-7F3AEDB9C44B}"/>
              </a:ext>
            </a:extLst>
          </p:cNvPr>
          <p:cNvSpPr txBox="1"/>
          <p:nvPr/>
        </p:nvSpPr>
        <p:spPr>
          <a:xfrm>
            <a:off x="1326372" y="1545198"/>
            <a:ext cx="11028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StreamHub is a customized full-stack video streaming platform designed to provide greater control over the application's features, workflows, and architecture.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1E359A-1CA4-D856-A923-7CBE513AF36E}"/>
              </a:ext>
            </a:extLst>
          </p:cNvPr>
          <p:cNvSpPr txBox="1"/>
          <p:nvPr/>
        </p:nvSpPr>
        <p:spPr>
          <a:xfrm>
            <a:off x="1940863" y="2278261"/>
            <a:ext cx="9799205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Adaptive Video Streaming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FFmpeg-based HLS processing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Secure Authentication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JWT, refresh-token rotation &amp; Google OAuth2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&amp; Admin Management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Separate roles and controlled access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 Management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Upload, stream and manage videos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 Dashboard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Users, videos and feedback management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 Full-Stack Architecture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React.js + Spring Boot + MySQL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 Verification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OTP-based verification using SMTP with Redis TTL and secure OTP expiration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&amp; Pagination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 Efficient video search and paginated content browsing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2.3.1 Comparison Study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10CCAF-364B-ACC7-0FAA-22AF30293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182463"/>
              </p:ext>
            </p:extLst>
          </p:nvPr>
        </p:nvGraphicFramePr>
        <p:xfrm>
          <a:off x="1406013" y="1484671"/>
          <a:ext cx="9497960" cy="4585902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899592">
                  <a:extLst>
                    <a:ext uri="{9D8B030D-6E8A-4147-A177-3AD203B41FA5}">
                      <a16:colId xmlns:a16="http://schemas.microsoft.com/office/drawing/2014/main" val="614672512"/>
                    </a:ext>
                  </a:extLst>
                </a:gridCol>
                <a:gridCol w="1899592">
                  <a:extLst>
                    <a:ext uri="{9D8B030D-6E8A-4147-A177-3AD203B41FA5}">
                      <a16:colId xmlns:a16="http://schemas.microsoft.com/office/drawing/2014/main" val="3644728949"/>
                    </a:ext>
                  </a:extLst>
                </a:gridCol>
                <a:gridCol w="1899592">
                  <a:extLst>
                    <a:ext uri="{9D8B030D-6E8A-4147-A177-3AD203B41FA5}">
                      <a16:colId xmlns:a16="http://schemas.microsoft.com/office/drawing/2014/main" val="1136782098"/>
                    </a:ext>
                  </a:extLst>
                </a:gridCol>
                <a:gridCol w="1899592">
                  <a:extLst>
                    <a:ext uri="{9D8B030D-6E8A-4147-A177-3AD203B41FA5}">
                      <a16:colId xmlns:a16="http://schemas.microsoft.com/office/drawing/2014/main" val="3232114520"/>
                    </a:ext>
                  </a:extLst>
                </a:gridCol>
                <a:gridCol w="1899592">
                  <a:extLst>
                    <a:ext uri="{9D8B030D-6E8A-4147-A177-3AD203B41FA5}">
                      <a16:colId xmlns:a16="http://schemas.microsoft.com/office/drawing/2014/main" val="117501440"/>
                    </a:ext>
                  </a:extLst>
                </a:gridCol>
              </a:tblGrid>
              <a:tr h="525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Feature</a:t>
                      </a:r>
                      <a:endParaRPr lang="en-IN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ClipBucket</a:t>
                      </a:r>
                      <a:endParaRPr lang="en-IN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PeerTube</a:t>
                      </a:r>
                      <a:endParaRPr lang="en-IN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Datarhei Restreamer</a:t>
                      </a:r>
                      <a:endParaRPr lang="en-IN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StreamHub</a:t>
                      </a:r>
                      <a:endParaRPr lang="en-IN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290" marR="82290" marT="34005" marB="34005" anchor="ctr"/>
                </a:tc>
                <a:extLst>
                  <a:ext uri="{0D108BD9-81ED-4DB2-BD59-A6C34878D82A}">
                    <a16:rowId xmlns:a16="http://schemas.microsoft.com/office/drawing/2014/main" val="2130326941"/>
                  </a:ext>
                </a:extLst>
              </a:tr>
              <a:tr h="525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Video Upload &amp; Streaming</a:t>
                      </a:r>
                      <a:endParaRPr lang="en-IN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Available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Available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Streaming-focused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Available</a:t>
                      </a:r>
                    </a:p>
                  </a:txBody>
                  <a:tcPr marL="82290" marR="82290" marT="34005" marB="34005" anchor="ctr"/>
                </a:tc>
                <a:extLst>
                  <a:ext uri="{0D108BD9-81ED-4DB2-BD59-A6C34878D82A}">
                    <a16:rowId xmlns:a16="http://schemas.microsoft.com/office/drawing/2014/main" val="2335946844"/>
                  </a:ext>
                </a:extLst>
              </a:tr>
              <a:tr h="525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Adaptive HLS Streaming</a:t>
                      </a:r>
                      <a:endParaRPr lang="en-IN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Available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Available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Available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HLS + FFmpeg</a:t>
                      </a:r>
                    </a:p>
                  </a:txBody>
                  <a:tcPr marL="82290" marR="82290" marT="34005" marB="34005" anchor="ctr"/>
                </a:tc>
                <a:extLst>
                  <a:ext uri="{0D108BD9-81ED-4DB2-BD59-A6C34878D82A}">
                    <a16:rowId xmlns:a16="http://schemas.microsoft.com/office/drawing/2014/main" val="3700816387"/>
                  </a:ext>
                </a:extLst>
              </a:tr>
              <a:tr h="525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Role-Based Access</a:t>
                      </a:r>
                      <a:endParaRPr lang="en-IN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Available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Admin / Moderator / User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Admin-focused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User / Admin</a:t>
                      </a:r>
                    </a:p>
                  </a:txBody>
                  <a:tcPr marL="82290" marR="82290" marT="34005" marB="34005" anchor="ctr"/>
                </a:tc>
                <a:extLst>
                  <a:ext uri="{0D108BD9-81ED-4DB2-BD59-A6C34878D82A}">
                    <a16:rowId xmlns:a16="http://schemas.microsoft.com/office/drawing/2014/main" val="236511880"/>
                  </a:ext>
                </a:extLst>
              </a:tr>
              <a:tr h="525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Authentication</a:t>
                      </a:r>
                      <a:endParaRPr lang="en-IN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Login / Registration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Access Token / OAuth2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Login / JWT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JWT + Google OAuth2</a:t>
                      </a:r>
                    </a:p>
                  </a:txBody>
                  <a:tcPr marL="82290" marR="82290" marT="34005" marB="34005" anchor="ctr"/>
                </a:tc>
                <a:extLst>
                  <a:ext uri="{0D108BD9-81ED-4DB2-BD59-A6C34878D82A}">
                    <a16:rowId xmlns:a16="http://schemas.microsoft.com/office/drawing/2014/main" val="1753930672"/>
                  </a:ext>
                </a:extLst>
              </a:tr>
              <a:tr h="525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Video Management</a:t>
                      </a:r>
                      <a:endParaRPr lang="en-IN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Upload &amp; Manage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Upload &amp; Manage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Stream Management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Upload + My Videos</a:t>
                      </a:r>
                    </a:p>
                  </a:txBody>
                  <a:tcPr marL="82290" marR="82290" marT="34005" marB="34005" anchor="ctr"/>
                </a:tc>
                <a:extLst>
                  <a:ext uri="{0D108BD9-81ED-4DB2-BD59-A6C34878D82A}">
                    <a16:rowId xmlns:a16="http://schemas.microsoft.com/office/drawing/2014/main" val="1809615264"/>
                  </a:ext>
                </a:extLst>
              </a:tr>
              <a:tr h="525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Comments</a:t>
                      </a:r>
                      <a:endParaRPr lang="en-IN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Available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Available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a core feature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Comments + Moderation</a:t>
                      </a:r>
                    </a:p>
                  </a:txBody>
                  <a:tcPr marL="82290" marR="82290" marT="34005" marB="34005" anchor="ctr"/>
                </a:tc>
                <a:extLst>
                  <a:ext uri="{0D108BD9-81ED-4DB2-BD59-A6C34878D82A}">
                    <a16:rowId xmlns:a16="http://schemas.microsoft.com/office/drawing/2014/main" val="3067514545"/>
                  </a:ext>
                </a:extLst>
              </a:tr>
              <a:tr h="34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Email Verification</a:t>
                      </a:r>
                      <a:endParaRPr lang="en-IN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highlighted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Available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a core feature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+ Redis TTL</a:t>
                      </a:r>
                    </a:p>
                  </a:txBody>
                  <a:tcPr marL="82290" marR="82290" marT="34005" marB="34005" anchor="ctr"/>
                </a:tc>
                <a:extLst>
                  <a:ext uri="{0D108BD9-81ED-4DB2-BD59-A6C34878D82A}">
                    <a16:rowId xmlns:a16="http://schemas.microsoft.com/office/drawing/2014/main" val="2699017666"/>
                  </a:ext>
                </a:extLst>
              </a:tr>
              <a:tr h="34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Feedback Module</a:t>
                      </a:r>
                      <a:endParaRPr lang="en-IN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a core feature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a core feature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a core feature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Built-in Feedback</a:t>
                      </a:r>
                    </a:p>
                  </a:txBody>
                  <a:tcPr marL="82290" marR="82290" marT="34005" marB="34005" anchor="ctr"/>
                </a:tc>
                <a:extLst>
                  <a:ext uri="{0D108BD9-81ED-4DB2-BD59-A6C34878D82A}">
                    <a16:rowId xmlns:a16="http://schemas.microsoft.com/office/drawing/2014/main" val="34127503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2.3.2 Modules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2F71315-1B52-E7DE-8BEF-DB5EF83E1705}"/>
              </a:ext>
            </a:extLst>
          </p:cNvPr>
          <p:cNvGrpSpPr/>
          <p:nvPr/>
        </p:nvGrpSpPr>
        <p:grpSpPr>
          <a:xfrm>
            <a:off x="988141" y="1632857"/>
            <a:ext cx="10215718" cy="4206829"/>
            <a:chOff x="875071" y="1989083"/>
            <a:chExt cx="10215718" cy="420682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6590FAC-587D-54C7-8D57-E1BF01E15C90}"/>
                </a:ext>
              </a:extLst>
            </p:cNvPr>
            <p:cNvGrpSpPr/>
            <p:nvPr/>
          </p:nvGrpSpPr>
          <p:grpSpPr>
            <a:xfrm>
              <a:off x="875071" y="2037811"/>
              <a:ext cx="4800600" cy="4158101"/>
              <a:chOff x="1966452" y="2326347"/>
              <a:chExt cx="4800600" cy="4158101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C93881B2-768E-E73A-2844-87F4C3D5A0CE}"/>
                  </a:ext>
                </a:extLst>
              </p:cNvPr>
              <p:cNvSpPr/>
              <p:nvPr/>
            </p:nvSpPr>
            <p:spPr>
              <a:xfrm>
                <a:off x="1966452" y="2408903"/>
                <a:ext cx="4800600" cy="850392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A91846C-BBB4-E0C6-6350-0A2BC7E9392F}"/>
                  </a:ext>
                </a:extLst>
              </p:cNvPr>
              <p:cNvSpPr/>
              <p:nvPr/>
            </p:nvSpPr>
            <p:spPr>
              <a:xfrm>
                <a:off x="2206601" y="2433535"/>
                <a:ext cx="438912" cy="438912"/>
              </a:xfrm>
              <a:prstGeom prst="ellipse">
                <a:avLst/>
              </a:prstGeom>
              <a:solidFill>
                <a:srgbClr val="B2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/>
                  <a:t>1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022900-022A-E62E-FDC3-950C0FFBCBF0}"/>
                  </a:ext>
                </a:extLst>
              </p:cNvPr>
              <p:cNvSpPr txBox="1"/>
              <p:nvPr/>
            </p:nvSpPr>
            <p:spPr>
              <a:xfrm>
                <a:off x="2781196" y="2326347"/>
                <a:ext cx="3362633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800" b="1" dirty="0">
                    <a:solidFill>
                      <a:srgbClr val="B2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USER AUTHENTICATION</a:t>
                </a:r>
              </a:p>
              <a:p>
                <a:r>
                  <a:rPr lang="en-IN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Registration, JWT, refresh tokens &amp; Google OAuth2</a:t>
                </a:r>
                <a:endPara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AD167E6B-1112-8677-700B-EFDCD8C38A43}"/>
                  </a:ext>
                </a:extLst>
              </p:cNvPr>
              <p:cNvSpPr/>
              <p:nvPr/>
            </p:nvSpPr>
            <p:spPr>
              <a:xfrm>
                <a:off x="2240472" y="5741772"/>
                <a:ext cx="438912" cy="438912"/>
              </a:xfrm>
              <a:prstGeom prst="ellipse">
                <a:avLst/>
              </a:prstGeom>
              <a:solidFill>
                <a:srgbClr val="B2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/>
                  <a:t>7</a:t>
                </a: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3ACAA2CF-1040-06DB-24AF-AB2686FFBEE2}"/>
                  </a:ext>
                </a:extLst>
              </p:cNvPr>
              <p:cNvSpPr txBox="1"/>
              <p:nvPr/>
            </p:nvSpPr>
            <p:spPr>
              <a:xfrm>
                <a:off x="2781196" y="5622674"/>
                <a:ext cx="3362633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800" b="1" dirty="0">
                    <a:solidFill>
                      <a:srgbClr val="B2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COMMENT</a:t>
                </a:r>
              </a:p>
              <a:p>
                <a:r>
                  <a:rPr lang="en-IN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Users can comment and admins can moderate discussions. </a:t>
                </a:r>
                <a:endParaRPr lang="en-IN" sz="1600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19D8B13-48EC-61D5-820E-E7905EC8A732}"/>
                </a:ext>
              </a:extLst>
            </p:cNvPr>
            <p:cNvGrpSpPr/>
            <p:nvPr/>
          </p:nvGrpSpPr>
          <p:grpSpPr>
            <a:xfrm>
              <a:off x="6290189" y="1989083"/>
              <a:ext cx="4800600" cy="981676"/>
              <a:chOff x="1966452" y="2277619"/>
              <a:chExt cx="4800600" cy="981676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E05906BD-E857-70FC-DDAD-A531CF7A5476}"/>
                  </a:ext>
                </a:extLst>
              </p:cNvPr>
              <p:cNvSpPr/>
              <p:nvPr/>
            </p:nvSpPr>
            <p:spPr>
              <a:xfrm>
                <a:off x="1966452" y="2408903"/>
                <a:ext cx="4800600" cy="850392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2F9A9B1-5B84-C01A-659E-C8C19073F30E}"/>
                  </a:ext>
                </a:extLst>
              </p:cNvPr>
              <p:cNvSpPr/>
              <p:nvPr/>
            </p:nvSpPr>
            <p:spPr>
              <a:xfrm>
                <a:off x="2205530" y="2442884"/>
                <a:ext cx="438912" cy="438912"/>
              </a:xfrm>
              <a:prstGeom prst="ellipse">
                <a:avLst/>
              </a:prstGeom>
              <a:solidFill>
                <a:srgbClr val="B2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/>
                  <a:t>2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7BA7EE-9AAB-C279-3E37-A1B29359C495}"/>
                  </a:ext>
                </a:extLst>
              </p:cNvPr>
              <p:cNvSpPr txBox="1"/>
              <p:nvPr/>
            </p:nvSpPr>
            <p:spPr>
              <a:xfrm>
                <a:off x="2733316" y="2277619"/>
                <a:ext cx="3362633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800" b="1" dirty="0">
                    <a:solidFill>
                      <a:srgbClr val="B2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ADMIN AUTHENTICATION</a:t>
                </a:r>
              </a:p>
              <a:p>
                <a:r>
                  <a:rPr lang="en-IN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Dedicated admin login &amp; ROLE_ADMIN authorization</a:t>
                </a:r>
                <a:endPara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4ED71CB-C09C-3233-09B5-AD4F74E0D9F1}"/>
                </a:ext>
              </a:extLst>
            </p:cNvPr>
            <p:cNvGrpSpPr/>
            <p:nvPr/>
          </p:nvGrpSpPr>
          <p:grpSpPr>
            <a:xfrm>
              <a:off x="875071" y="3149818"/>
              <a:ext cx="4800600" cy="877073"/>
              <a:chOff x="1966452" y="2382222"/>
              <a:chExt cx="4800600" cy="877073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A28C0648-C4E5-35FC-7DF1-D86F19493E34}"/>
                  </a:ext>
                </a:extLst>
              </p:cNvPr>
              <p:cNvSpPr/>
              <p:nvPr/>
            </p:nvSpPr>
            <p:spPr>
              <a:xfrm>
                <a:off x="1966452" y="2408903"/>
                <a:ext cx="4800600" cy="850392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C14DFD8-8359-7A00-24A1-0CB27548BE5E}"/>
                  </a:ext>
                </a:extLst>
              </p:cNvPr>
              <p:cNvSpPr/>
              <p:nvPr/>
            </p:nvSpPr>
            <p:spPr>
              <a:xfrm>
                <a:off x="2240472" y="2477126"/>
                <a:ext cx="438912" cy="438912"/>
              </a:xfrm>
              <a:prstGeom prst="ellipse">
                <a:avLst/>
              </a:prstGeom>
              <a:solidFill>
                <a:srgbClr val="B2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/>
                  <a:t>3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114C45-F780-67A3-1FF4-4AC0A990D13B}"/>
                  </a:ext>
                </a:extLst>
              </p:cNvPr>
              <p:cNvSpPr txBox="1"/>
              <p:nvPr/>
            </p:nvSpPr>
            <p:spPr>
              <a:xfrm>
                <a:off x="2733316" y="2382222"/>
                <a:ext cx="3362633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800" b="1" dirty="0">
                    <a:solidFill>
                      <a:srgbClr val="B2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USER MANAGEMENT</a:t>
                </a:r>
              </a:p>
              <a:p>
                <a:r>
                  <a:rPr lang="en-IN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Profile management &amp; administrator account control</a:t>
                </a:r>
                <a:endPara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6B02E46-7E77-A1F1-6283-FE541A11B22E}"/>
                </a:ext>
              </a:extLst>
            </p:cNvPr>
            <p:cNvGrpSpPr/>
            <p:nvPr/>
          </p:nvGrpSpPr>
          <p:grpSpPr>
            <a:xfrm>
              <a:off x="6290189" y="3039479"/>
              <a:ext cx="4800600" cy="987412"/>
              <a:chOff x="1966452" y="2271883"/>
              <a:chExt cx="4800600" cy="987412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98772B95-BD30-782D-2C11-A6A768DFE59C}"/>
                  </a:ext>
                </a:extLst>
              </p:cNvPr>
              <p:cNvSpPr/>
              <p:nvPr/>
            </p:nvSpPr>
            <p:spPr>
              <a:xfrm>
                <a:off x="1966452" y="2408903"/>
                <a:ext cx="4800600" cy="850392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55FB178C-155A-183D-5B5F-450D3EA9F5F6}"/>
                  </a:ext>
                </a:extLst>
              </p:cNvPr>
              <p:cNvSpPr/>
              <p:nvPr/>
            </p:nvSpPr>
            <p:spPr>
              <a:xfrm>
                <a:off x="2206601" y="2395187"/>
                <a:ext cx="438912" cy="438912"/>
              </a:xfrm>
              <a:prstGeom prst="ellipse">
                <a:avLst/>
              </a:prstGeom>
              <a:solidFill>
                <a:srgbClr val="B2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/>
                  <a:t>4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9342B45-D366-0199-1D63-0C648CC38235}"/>
                  </a:ext>
                </a:extLst>
              </p:cNvPr>
              <p:cNvSpPr txBox="1"/>
              <p:nvPr/>
            </p:nvSpPr>
            <p:spPr>
              <a:xfrm>
                <a:off x="2733316" y="2271883"/>
                <a:ext cx="3362633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800" b="1" dirty="0">
                    <a:solidFill>
                      <a:srgbClr val="B2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VIDEO UPLOAD &amp; STREAMING</a:t>
                </a:r>
              </a:p>
              <a:p>
                <a:r>
                  <a:rPr lang="en-IN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FFmpeg + HLS adaptive streaming + HTTP Range</a:t>
                </a:r>
                <a:endPara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1DB659F-E047-CC92-F776-1FFBBC37F08C}"/>
                </a:ext>
              </a:extLst>
            </p:cNvPr>
            <p:cNvGrpSpPr/>
            <p:nvPr/>
          </p:nvGrpSpPr>
          <p:grpSpPr>
            <a:xfrm>
              <a:off x="6523235" y="4129354"/>
              <a:ext cx="3896451" cy="861774"/>
              <a:chOff x="2199498" y="2277979"/>
              <a:chExt cx="3896451" cy="861774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AC865D4F-70ED-1C34-6F9E-9167FFA65A1A}"/>
                  </a:ext>
                </a:extLst>
              </p:cNvPr>
              <p:cNvSpPr/>
              <p:nvPr/>
            </p:nvSpPr>
            <p:spPr>
              <a:xfrm>
                <a:off x="2199498" y="2442832"/>
                <a:ext cx="436259" cy="438912"/>
              </a:xfrm>
              <a:prstGeom prst="ellipse">
                <a:avLst/>
              </a:prstGeom>
              <a:solidFill>
                <a:srgbClr val="B2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/>
                  <a:t>6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4C49A4A-FF11-3CBA-A16F-7B5B547BC911}"/>
                  </a:ext>
                </a:extLst>
              </p:cNvPr>
              <p:cNvSpPr txBox="1"/>
              <p:nvPr/>
            </p:nvSpPr>
            <p:spPr>
              <a:xfrm>
                <a:off x="2733316" y="2277979"/>
                <a:ext cx="3362633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800" b="1" dirty="0">
                    <a:solidFill>
                      <a:srgbClr val="B2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ADMIN DASHBOARD</a:t>
                </a:r>
              </a:p>
              <a:p>
                <a:r>
                  <a:rPr lang="en-IN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Platform statistics, users, roles &amp; video management</a:t>
                </a:r>
                <a:endPara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A418E67-F156-A9CA-CAFF-EB1CA5A21970}"/>
                </a:ext>
              </a:extLst>
            </p:cNvPr>
            <p:cNvGrpSpPr/>
            <p:nvPr/>
          </p:nvGrpSpPr>
          <p:grpSpPr>
            <a:xfrm>
              <a:off x="922951" y="4132273"/>
              <a:ext cx="4800600" cy="1077218"/>
              <a:chOff x="1966452" y="2280898"/>
              <a:chExt cx="4800600" cy="1077218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44111A4A-7FA0-50E6-A207-0F164C31FF84}"/>
                  </a:ext>
                </a:extLst>
              </p:cNvPr>
              <p:cNvSpPr/>
              <p:nvPr/>
            </p:nvSpPr>
            <p:spPr>
              <a:xfrm>
                <a:off x="1966452" y="2408903"/>
                <a:ext cx="4800600" cy="850392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F65C1A2-D458-6773-2DCA-F713B690BA74}"/>
                  </a:ext>
                </a:extLst>
              </p:cNvPr>
              <p:cNvSpPr/>
              <p:nvPr/>
            </p:nvSpPr>
            <p:spPr>
              <a:xfrm>
                <a:off x="2192592" y="2462496"/>
                <a:ext cx="438912" cy="438912"/>
              </a:xfrm>
              <a:prstGeom prst="ellipse">
                <a:avLst/>
              </a:prstGeom>
              <a:solidFill>
                <a:srgbClr val="B2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/>
                  <a:t>5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B5B0176-D325-55AF-F8CC-0C95118B1105}"/>
                  </a:ext>
                </a:extLst>
              </p:cNvPr>
              <p:cNvSpPr txBox="1"/>
              <p:nvPr/>
            </p:nvSpPr>
            <p:spPr>
              <a:xfrm>
                <a:off x="2733316" y="2280898"/>
                <a:ext cx="3929271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800" b="1" dirty="0">
                    <a:solidFill>
                      <a:srgbClr val="B2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MY VIDEOS</a:t>
                </a:r>
              </a:p>
              <a:p>
                <a:r>
                  <a:rPr lang="en-IN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Personalized uploaded videos with manage/delete options</a:t>
                </a:r>
              </a:p>
              <a:p>
                <a:endParaRPr lang="en-IN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28" name="Oval 127">
            <a:extLst>
              <a:ext uri="{FF2B5EF4-FFF2-40B4-BE49-F238E27FC236}">
                <a16:creationId xmlns:a16="http://schemas.microsoft.com/office/drawing/2014/main" id="{2CF54AC1-C5C6-C276-CA8B-D44FA2D9EDA2}"/>
              </a:ext>
            </a:extLst>
          </p:cNvPr>
          <p:cNvSpPr/>
          <p:nvPr/>
        </p:nvSpPr>
        <p:spPr>
          <a:xfrm>
            <a:off x="6642337" y="5097010"/>
            <a:ext cx="438912" cy="438912"/>
          </a:xfrm>
          <a:prstGeom prst="ellipse">
            <a:avLst/>
          </a:prstGeom>
          <a:solidFill>
            <a:srgbClr val="B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8</a:t>
            </a:r>
            <a:endParaRPr lang="en-IN" b="1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356241D-C0D6-9330-6BDF-DCD061D9752C}"/>
              </a:ext>
            </a:extLst>
          </p:cNvPr>
          <p:cNvSpPr txBox="1"/>
          <p:nvPr/>
        </p:nvSpPr>
        <p:spPr>
          <a:xfrm>
            <a:off x="7170123" y="4977912"/>
            <a:ext cx="336263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rgbClr val="B2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 Verification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6-digit OTP verification with secure expiry and resend control.</a:t>
            </a:r>
            <a:endParaRPr lang="en-IN" sz="1600" b="1" dirty="0">
              <a:solidFill>
                <a:srgbClr val="B2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3.1 Hardware Requirements</a:t>
            </a:r>
            <a:endParaRPr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F68FC18-CE30-9846-87D7-B04111B0014A}"/>
              </a:ext>
            </a:extLst>
          </p:cNvPr>
          <p:cNvGrpSpPr/>
          <p:nvPr/>
        </p:nvGrpSpPr>
        <p:grpSpPr>
          <a:xfrm>
            <a:off x="958644" y="1827214"/>
            <a:ext cx="4800600" cy="3342099"/>
            <a:chOff x="988141" y="2820273"/>
            <a:chExt cx="4800600" cy="3342099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41DD303-496A-20A1-BFA3-75CA13F26C89}"/>
                </a:ext>
              </a:extLst>
            </p:cNvPr>
            <p:cNvSpPr/>
            <p:nvPr/>
          </p:nvSpPr>
          <p:spPr>
            <a:xfrm>
              <a:off x="988141" y="2820273"/>
              <a:ext cx="4800600" cy="85039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B4B41D7-38B9-9851-57C2-A588F145CD3B}"/>
                </a:ext>
              </a:extLst>
            </p:cNvPr>
            <p:cNvSpPr/>
            <p:nvPr/>
          </p:nvSpPr>
          <p:spPr>
            <a:xfrm>
              <a:off x="1214281" y="3026013"/>
              <a:ext cx="438912" cy="438912"/>
            </a:xfrm>
            <a:prstGeom prst="ellipse">
              <a:avLst/>
            </a:prstGeom>
            <a:solidFill>
              <a:srgbClr val="B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691031E-DEC7-3D15-CF40-75D2CAB81A35}"/>
                </a:ext>
              </a:extLst>
            </p:cNvPr>
            <p:cNvSpPr txBox="1"/>
            <p:nvPr/>
          </p:nvSpPr>
          <p:spPr>
            <a:xfrm>
              <a:off x="1755005" y="2932001"/>
              <a:ext cx="3362633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8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PROCESSOR</a:t>
              </a:r>
            </a:p>
            <a:p>
              <a: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Intel Core i5 (10th Gen) or higher</a:t>
              </a:r>
              <a:b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AMD Ryzen 5 or higher</a:t>
              </a:r>
              <a:endParaRPr lang="en-IN" sz="1600" b="1" dirty="0">
                <a:solidFill>
                  <a:srgbClr val="B2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99B25165-2189-0253-0F0E-827761B70291}"/>
                </a:ext>
              </a:extLst>
            </p:cNvPr>
            <p:cNvSpPr/>
            <p:nvPr/>
          </p:nvSpPr>
          <p:spPr>
            <a:xfrm>
              <a:off x="988141" y="3872094"/>
              <a:ext cx="4800600" cy="85039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C42C86F-BDAC-238F-2C97-3320E8F693D5}"/>
                </a:ext>
              </a:extLst>
            </p:cNvPr>
            <p:cNvSpPr/>
            <p:nvPr/>
          </p:nvSpPr>
          <p:spPr>
            <a:xfrm>
              <a:off x="1214281" y="4077834"/>
              <a:ext cx="438912" cy="438912"/>
            </a:xfrm>
            <a:prstGeom prst="ellipse">
              <a:avLst/>
            </a:prstGeom>
            <a:solidFill>
              <a:srgbClr val="B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3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D6D1287-4BB5-B570-8A18-A1B59E89093E}"/>
                </a:ext>
              </a:extLst>
            </p:cNvPr>
            <p:cNvSpPr txBox="1"/>
            <p:nvPr/>
          </p:nvSpPr>
          <p:spPr>
            <a:xfrm>
              <a:off x="1755005" y="3868061"/>
              <a:ext cx="3362633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8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STORAGE</a:t>
              </a:r>
            </a:p>
            <a:p>
              <a:r>
                <a:rPr lang="en-IN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256 GB SSD or higher</a:t>
              </a:r>
              <a:b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Additional storage for videos &amp; HLS segments</a:t>
              </a:r>
              <a:endParaRPr lang="en-IN" sz="1600" b="1" dirty="0">
                <a:solidFill>
                  <a:srgbClr val="B2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AAE4E27B-DA92-E2B2-CAF9-60545AD21D3B}"/>
                </a:ext>
              </a:extLst>
            </p:cNvPr>
            <p:cNvSpPr/>
            <p:nvPr/>
          </p:nvSpPr>
          <p:spPr>
            <a:xfrm>
              <a:off x="988141" y="4923915"/>
              <a:ext cx="4800600" cy="85039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DC15B3A-C9EC-F8F8-61A9-39ABF28AAEBC}"/>
                </a:ext>
              </a:extLst>
            </p:cNvPr>
            <p:cNvSpPr/>
            <p:nvPr/>
          </p:nvSpPr>
          <p:spPr>
            <a:xfrm>
              <a:off x="1214281" y="5179294"/>
              <a:ext cx="438912" cy="438912"/>
            </a:xfrm>
            <a:prstGeom prst="ellipse">
              <a:avLst/>
            </a:prstGeom>
            <a:solidFill>
              <a:srgbClr val="B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3029B25-DB42-AC5C-C80E-8F0B50E779D8}"/>
                </a:ext>
              </a:extLst>
            </p:cNvPr>
            <p:cNvSpPr txBox="1"/>
            <p:nvPr/>
          </p:nvSpPr>
          <p:spPr>
            <a:xfrm>
              <a:off x="1755004" y="5054376"/>
              <a:ext cx="3362633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8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INTERNET CONNECTION</a:t>
              </a:r>
            </a:p>
            <a:p>
              <a: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</a:t>
              </a:r>
              <a:r>
                <a:rPr lang="en-IN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Broadband connection</a:t>
              </a:r>
              <a:b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Minimum 5 Mbps for streaming &amp; API testing</a:t>
              </a:r>
              <a:endParaRPr lang="en-IN" sz="1600" b="1" dirty="0">
                <a:solidFill>
                  <a:srgbClr val="B2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23F1E8F-9358-E0A7-5D76-A3BA4B3202A4}"/>
              </a:ext>
            </a:extLst>
          </p:cNvPr>
          <p:cNvGrpSpPr/>
          <p:nvPr/>
        </p:nvGrpSpPr>
        <p:grpSpPr>
          <a:xfrm>
            <a:off x="6095949" y="1921264"/>
            <a:ext cx="4800600" cy="2965416"/>
            <a:chOff x="988141" y="2932001"/>
            <a:chExt cx="4800600" cy="2965416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845B8467-52FB-B7E3-614D-9C48070E33F7}"/>
                </a:ext>
              </a:extLst>
            </p:cNvPr>
            <p:cNvSpPr/>
            <p:nvPr/>
          </p:nvSpPr>
          <p:spPr>
            <a:xfrm>
              <a:off x="988141" y="2949679"/>
              <a:ext cx="4800600" cy="85039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CB98E6C-B927-B864-18BA-443EF2DEC29A}"/>
                </a:ext>
              </a:extLst>
            </p:cNvPr>
            <p:cNvSpPr/>
            <p:nvPr/>
          </p:nvSpPr>
          <p:spPr>
            <a:xfrm>
              <a:off x="1214281" y="3026013"/>
              <a:ext cx="438912" cy="438912"/>
            </a:xfrm>
            <a:prstGeom prst="ellipse">
              <a:avLst/>
            </a:prstGeom>
            <a:solidFill>
              <a:srgbClr val="B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9F56AEB-2565-9717-1A3B-CAA9B5E343F8}"/>
                </a:ext>
              </a:extLst>
            </p:cNvPr>
            <p:cNvSpPr txBox="1"/>
            <p:nvPr/>
          </p:nvSpPr>
          <p:spPr>
            <a:xfrm>
              <a:off x="1755005" y="2932001"/>
              <a:ext cx="3756026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8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RAM</a:t>
              </a:r>
            </a:p>
            <a:p>
              <a:r>
                <a:rPr lang="en-IN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8 GB minimum</a:t>
              </a:r>
              <a:b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16 GB recommended for video processing</a:t>
              </a:r>
              <a:endParaRPr lang="en-IN" sz="1600" b="1" dirty="0">
                <a:solidFill>
                  <a:srgbClr val="B2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E0F2BB6F-1BED-112A-22A8-2D2745E455FA}"/>
                </a:ext>
              </a:extLst>
            </p:cNvPr>
            <p:cNvSpPr/>
            <p:nvPr/>
          </p:nvSpPr>
          <p:spPr>
            <a:xfrm>
              <a:off x="988141" y="3872094"/>
              <a:ext cx="4800600" cy="85039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6A46ADE6-9D75-6340-F1F5-05C8FA963FFE}"/>
                </a:ext>
              </a:extLst>
            </p:cNvPr>
            <p:cNvSpPr/>
            <p:nvPr/>
          </p:nvSpPr>
          <p:spPr>
            <a:xfrm>
              <a:off x="1214281" y="4077834"/>
              <a:ext cx="438912" cy="438912"/>
            </a:xfrm>
            <a:prstGeom prst="ellipse">
              <a:avLst/>
            </a:prstGeom>
            <a:solidFill>
              <a:srgbClr val="B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4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D503E241-6A89-77A1-9C31-EACAEC73B535}"/>
                </a:ext>
              </a:extLst>
            </p:cNvPr>
            <p:cNvSpPr txBox="1"/>
            <p:nvPr/>
          </p:nvSpPr>
          <p:spPr>
            <a:xfrm>
              <a:off x="1755005" y="3983822"/>
              <a:ext cx="3362633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8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DISPLAY</a:t>
              </a:r>
            </a:p>
            <a:p>
              <a: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1366 × 768 resolution or higher</a:t>
              </a:r>
              <a:endParaRPr lang="en-IN" sz="1600" b="1" dirty="0">
                <a:solidFill>
                  <a:srgbClr val="B2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E6FBD7B0-770D-7752-9D12-BA4CBF202C59}"/>
                </a:ext>
              </a:extLst>
            </p:cNvPr>
            <p:cNvSpPr/>
            <p:nvPr/>
          </p:nvSpPr>
          <p:spPr>
            <a:xfrm>
              <a:off x="988141" y="4923915"/>
              <a:ext cx="4800600" cy="85039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D65AD9D2-BC12-5101-16AD-F470A19827D6}"/>
                </a:ext>
              </a:extLst>
            </p:cNvPr>
            <p:cNvSpPr/>
            <p:nvPr/>
          </p:nvSpPr>
          <p:spPr>
            <a:xfrm>
              <a:off x="1214281" y="5129655"/>
              <a:ext cx="438912" cy="438912"/>
            </a:xfrm>
            <a:prstGeom prst="ellipse">
              <a:avLst/>
            </a:prstGeom>
            <a:solidFill>
              <a:srgbClr val="B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D4BB78FF-6965-4FDB-A737-21D98701890C}"/>
                </a:ext>
              </a:extLst>
            </p:cNvPr>
            <p:cNvSpPr txBox="1"/>
            <p:nvPr/>
          </p:nvSpPr>
          <p:spPr>
            <a:xfrm>
              <a:off x="1755005" y="5035643"/>
              <a:ext cx="3362633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8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OTHER</a:t>
              </a:r>
            </a:p>
            <a:p>
              <a:r>
                <a:rPr lang="en-IN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Keyboard, Mouse</a:t>
              </a:r>
              <a:b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Stable power supply</a:t>
              </a:r>
              <a:endParaRPr lang="en-IN" sz="1600" b="1" dirty="0">
                <a:solidFill>
                  <a:srgbClr val="B2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2ADC4484-DB39-854C-FBB4-C5A9593336E5}"/>
              </a:ext>
            </a:extLst>
          </p:cNvPr>
          <p:cNvSpPr/>
          <p:nvPr/>
        </p:nvSpPr>
        <p:spPr>
          <a:xfrm>
            <a:off x="1278193" y="5505488"/>
            <a:ext cx="9448800" cy="550606"/>
          </a:xfrm>
          <a:prstGeom prst="roundRect">
            <a:avLst/>
          </a:prstGeom>
          <a:solidFill>
            <a:srgbClr val="FC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4D4D4D"/>
                </a:solidFill>
              </a:rPr>
              <a:t>Recommended: 16 GB RAM and sufficient storage for smoother video processing and HLS generation.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>
            <a:spLocks noGrp="1"/>
          </p:cNvSpPr>
          <p:nvPr>
            <p:ph type="title"/>
          </p:nvPr>
        </p:nvSpPr>
        <p:spPr>
          <a:xfrm>
            <a:off x="415600" y="604564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3.2 Software Requirements</a:t>
            </a:r>
            <a:br>
              <a:rPr lang="en-IN" dirty="0"/>
            </a:b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C170F6-1465-37C0-5E1B-13B7E9B65252}"/>
              </a:ext>
            </a:extLst>
          </p:cNvPr>
          <p:cNvSpPr txBox="1"/>
          <p:nvPr/>
        </p:nvSpPr>
        <p:spPr>
          <a:xfrm>
            <a:off x="2861137" y="1298595"/>
            <a:ext cx="6469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IN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 environment and technology stack used to develop StreamHub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9ED445-199E-1372-389A-22DAE9E57DB6}"/>
              </a:ext>
            </a:extLst>
          </p:cNvPr>
          <p:cNvSpPr/>
          <p:nvPr/>
        </p:nvSpPr>
        <p:spPr>
          <a:xfrm>
            <a:off x="1043890" y="1850174"/>
            <a:ext cx="10104120" cy="658368"/>
          </a:xfrm>
          <a:prstGeom prst="roundRect">
            <a:avLst/>
          </a:prstGeom>
          <a:solidFill>
            <a:srgbClr val="FC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B2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DEVELOPMENT ENVIRONMENT</a:t>
            </a:r>
          </a:p>
          <a:p>
            <a:pPr algn="ctr"/>
            <a:r>
              <a:rPr lang="en-IN" sz="1600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Windows 10 / 11 • Visual Studio Code • IntelliJ IDEA • Java JDK 21</a:t>
            </a:r>
            <a:endParaRPr lang="en-IN" sz="1600" b="1" dirty="0">
              <a:solidFill>
                <a:srgbClr val="4D4D4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061B4EE-84B7-547F-1523-55F2C923EF80}"/>
              </a:ext>
            </a:extLst>
          </p:cNvPr>
          <p:cNvGrpSpPr/>
          <p:nvPr/>
        </p:nvGrpSpPr>
        <p:grpSpPr>
          <a:xfrm>
            <a:off x="6469526" y="2752343"/>
            <a:ext cx="4678484" cy="2427939"/>
            <a:chOff x="6469526" y="2752343"/>
            <a:chExt cx="4678484" cy="242793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00206F5-C7EA-4FBC-EE90-E4DBD3B588AE}"/>
                </a:ext>
              </a:extLst>
            </p:cNvPr>
            <p:cNvSpPr/>
            <p:nvPr/>
          </p:nvSpPr>
          <p:spPr>
            <a:xfrm>
              <a:off x="6469526" y="2752343"/>
              <a:ext cx="4678484" cy="1092069"/>
            </a:xfrm>
            <a:prstGeom prst="roundRect">
              <a:avLst/>
            </a:prstGeom>
            <a:solidFill>
              <a:srgbClr val="FC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BACK-END</a:t>
              </a: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Spring Boot 3.5.7 • Spring Web • Spring Security</a:t>
              </a:r>
              <a:b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Spring Data JPA • Spring Validation • OAuth2 Client</a:t>
              </a:r>
              <a:endParaRPr lang="en-IN" sz="1600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5FC4677-3008-B5DB-1AFA-40EF91655BD6}"/>
                </a:ext>
              </a:extLst>
            </p:cNvPr>
            <p:cNvSpPr/>
            <p:nvPr/>
          </p:nvSpPr>
          <p:spPr>
            <a:xfrm>
              <a:off x="6469526" y="4088213"/>
              <a:ext cx="4678484" cy="1092069"/>
            </a:xfrm>
            <a:prstGeom prst="roundRect">
              <a:avLst/>
            </a:prstGeom>
            <a:solidFill>
              <a:srgbClr val="FC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SECURITY &amp; API</a:t>
              </a: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JJWT • Spring Security • Google OAuth2</a:t>
              </a:r>
              <a:b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Swagger / OpenAPI (springdoc-openapi)</a:t>
              </a:r>
              <a:endParaRPr lang="en-IN" sz="1600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1DAB917-19EB-E66F-0388-6FBD35825A28}"/>
              </a:ext>
            </a:extLst>
          </p:cNvPr>
          <p:cNvGrpSpPr/>
          <p:nvPr/>
        </p:nvGrpSpPr>
        <p:grpSpPr>
          <a:xfrm>
            <a:off x="1043889" y="2752344"/>
            <a:ext cx="4796471" cy="2427938"/>
            <a:chOff x="1043889" y="2752344"/>
            <a:chExt cx="4796471" cy="242793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5F9D456-67C7-E8CE-304F-33728CA32D85}"/>
                </a:ext>
              </a:extLst>
            </p:cNvPr>
            <p:cNvSpPr/>
            <p:nvPr/>
          </p:nvSpPr>
          <p:spPr>
            <a:xfrm>
              <a:off x="1043889" y="2752344"/>
              <a:ext cx="4796471" cy="1092069"/>
            </a:xfrm>
            <a:prstGeom prst="roundRect">
              <a:avLst/>
            </a:prstGeom>
            <a:solidFill>
              <a:srgbClr val="FC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FRONT-END</a:t>
              </a: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React.js • TypeScript • JavaScript • Vite • Tailwind CSS</a:t>
              </a:r>
              <a:b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Zustand • Axios • Video.js • React Router DOM</a:t>
              </a:r>
              <a:endParaRPr lang="en-IN" sz="1600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480AEB4-747C-A569-7628-D7CE02D4452A}"/>
                </a:ext>
              </a:extLst>
            </p:cNvPr>
            <p:cNvSpPr/>
            <p:nvPr/>
          </p:nvSpPr>
          <p:spPr>
            <a:xfrm>
              <a:off x="1043890" y="4088213"/>
              <a:ext cx="4796470" cy="1092069"/>
            </a:xfrm>
            <a:prstGeom prst="roundRect">
              <a:avLst/>
            </a:prstGeom>
            <a:solidFill>
              <a:srgbClr val="FC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 &amp; VIDEO</a:t>
              </a:r>
              <a:endParaRPr lang="en-IN" sz="1600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MySQL • FFmpeg</a:t>
              </a:r>
              <a:b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Video processing and HLS conversion</a:t>
              </a:r>
              <a:endParaRPr lang="en-IN" sz="1600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EBA793D-9DE7-77C6-E099-DC54415FE243}"/>
              </a:ext>
            </a:extLst>
          </p:cNvPr>
          <p:cNvSpPr/>
          <p:nvPr/>
        </p:nvSpPr>
        <p:spPr>
          <a:xfrm>
            <a:off x="1043890" y="5424082"/>
            <a:ext cx="10104120" cy="658368"/>
          </a:xfrm>
          <a:prstGeom prst="roundRect">
            <a:avLst/>
          </a:prstGeom>
          <a:solidFill>
            <a:srgbClr val="FC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B2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DEVELOPMENT &amp; TESTING</a:t>
            </a:r>
            <a:endParaRPr lang="en-IN" sz="1600" b="1" dirty="0">
              <a:solidFill>
                <a:srgbClr val="4D4D4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600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ModelMapper • Git &amp; GitHub • Postman • Maven • npm / Vite</a:t>
            </a:r>
            <a:endParaRPr lang="en-IN" sz="1600" b="1" dirty="0">
              <a:solidFill>
                <a:srgbClr val="4D4D4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58644265-DC14-41BF-1E99-DFF536415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>
            <a:extLst>
              <a:ext uri="{FF2B5EF4-FFF2-40B4-BE49-F238E27FC236}">
                <a16:creationId xmlns:a16="http://schemas.microsoft.com/office/drawing/2014/main" id="{76551606-7F12-2005-E683-41D4BA6085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613031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  3.3 Programming Environment</a:t>
            </a:r>
            <a:endParaRPr dirty="0"/>
          </a:p>
        </p:txBody>
      </p:sp>
      <p:sp>
        <p:nvSpPr>
          <p:cNvPr id="5" name="Google Shape;163;p24">
            <a:extLst>
              <a:ext uri="{FF2B5EF4-FFF2-40B4-BE49-F238E27FC236}">
                <a16:creationId xmlns:a16="http://schemas.microsoft.com/office/drawing/2014/main" id="{CC21A529-47B3-FF5E-B39E-46ADCF619A93}"/>
              </a:ext>
            </a:extLst>
          </p:cNvPr>
          <p:cNvSpPr txBox="1">
            <a:spLocks/>
          </p:cNvSpPr>
          <p:nvPr/>
        </p:nvSpPr>
        <p:spPr>
          <a:xfrm>
            <a:off x="400410" y="613030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           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C5CC536-5AC5-9F5D-128D-25FB0D6D287D}"/>
              </a:ext>
            </a:extLst>
          </p:cNvPr>
          <p:cNvSpPr/>
          <p:nvPr/>
        </p:nvSpPr>
        <p:spPr>
          <a:xfrm>
            <a:off x="4160520" y="2016105"/>
            <a:ext cx="3337560" cy="1600200"/>
          </a:xfrm>
          <a:prstGeom prst="roundRect">
            <a:avLst/>
          </a:prstGeom>
          <a:solidFill>
            <a:srgbClr val="B20000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RESTful APIs</a:t>
            </a:r>
          </a:p>
          <a:p>
            <a:pPr algn="ctr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 Request / Response</a:t>
            </a:r>
          </a:p>
          <a:p>
            <a:pPr algn="ctr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Front-End ↔ Back-End</a:t>
            </a:r>
            <a:endParaRPr lang="en-IN" sz="1600" b="1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6B27E04-1DBB-51F0-ECAF-3AF77A240939}"/>
              </a:ext>
            </a:extLst>
          </p:cNvPr>
          <p:cNvGrpSpPr/>
          <p:nvPr/>
        </p:nvGrpSpPr>
        <p:grpSpPr>
          <a:xfrm>
            <a:off x="869832" y="1834208"/>
            <a:ext cx="3212984" cy="1965960"/>
            <a:chOff x="869832" y="1824376"/>
            <a:chExt cx="3212984" cy="196596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AEF0E078-A1F0-24FE-B390-EC13B4DAEA86}"/>
                </a:ext>
              </a:extLst>
            </p:cNvPr>
            <p:cNvSpPr/>
            <p:nvPr/>
          </p:nvSpPr>
          <p:spPr>
            <a:xfrm>
              <a:off x="869832" y="1824376"/>
              <a:ext cx="2971800" cy="1965960"/>
            </a:xfrm>
            <a:prstGeom prst="roundRect">
              <a:avLst/>
            </a:prstGeom>
            <a:solidFill>
              <a:srgbClr val="FCF2F2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FRONT-END</a:t>
              </a: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React.js • TypeScript</a:t>
              </a: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Vite • Tailwind CSS</a:t>
              </a:r>
            </a:p>
            <a:p>
              <a:pPr algn="ctr"/>
              <a:r>
                <a:rPr lang="en-IN" sz="1600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User Interface &amp; Client-side Logic</a:t>
              </a:r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3193FFC8-0299-0F80-BB13-03616316AB45}"/>
                </a:ext>
              </a:extLst>
            </p:cNvPr>
            <p:cNvSpPr/>
            <p:nvPr/>
          </p:nvSpPr>
          <p:spPr>
            <a:xfrm>
              <a:off x="3698768" y="2679045"/>
              <a:ext cx="384048" cy="274320"/>
            </a:xfrm>
            <a:prstGeom prst="rightArrow">
              <a:avLst/>
            </a:prstGeom>
            <a:solidFill>
              <a:srgbClr val="B20000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F39F6A9-3825-C087-FA29-2303AA84226C}"/>
              </a:ext>
            </a:extLst>
          </p:cNvPr>
          <p:cNvGrpSpPr/>
          <p:nvPr/>
        </p:nvGrpSpPr>
        <p:grpSpPr>
          <a:xfrm>
            <a:off x="7576936" y="1824376"/>
            <a:ext cx="3366366" cy="1965960"/>
            <a:chOff x="7576936" y="1824376"/>
            <a:chExt cx="3366366" cy="196596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8570386-8AA2-AB79-C9E2-C5679B44DF6F}"/>
                </a:ext>
              </a:extLst>
            </p:cNvPr>
            <p:cNvSpPr/>
            <p:nvPr/>
          </p:nvSpPr>
          <p:spPr>
            <a:xfrm>
              <a:off x="7816967" y="1824376"/>
              <a:ext cx="3126335" cy="1965960"/>
            </a:xfrm>
            <a:prstGeom prst="roundRect">
              <a:avLst/>
            </a:prstGeom>
            <a:solidFill>
              <a:srgbClr val="FCF2F2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BACK-END</a:t>
              </a:r>
            </a:p>
            <a:p>
              <a:pPr algn="ctr"/>
              <a:r>
                <a:rPr lang="en-GB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Java • Spring Boot</a:t>
              </a:r>
            </a:p>
            <a:p>
              <a:pPr algn="ctr"/>
              <a:r>
                <a:rPr lang="en-GB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Spring Security • Spring Data JPA</a:t>
              </a:r>
            </a:p>
            <a:p>
              <a:pPr algn="ctr"/>
              <a:r>
                <a:rPr lang="en-IN" sz="1600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Business Logic &amp; Server-side Processing</a:t>
              </a:r>
            </a:p>
          </p:txBody>
        </p:sp>
        <p:sp>
          <p:nvSpPr>
            <p:cNvPr id="19" name="Arrow: Left 18">
              <a:extLst>
                <a:ext uri="{FF2B5EF4-FFF2-40B4-BE49-F238E27FC236}">
                  <a16:creationId xmlns:a16="http://schemas.microsoft.com/office/drawing/2014/main" id="{441C9B8D-CDAC-380C-D13C-236902DB4C66}"/>
                </a:ext>
              </a:extLst>
            </p:cNvPr>
            <p:cNvSpPr/>
            <p:nvPr/>
          </p:nvSpPr>
          <p:spPr>
            <a:xfrm>
              <a:off x="7576936" y="2721060"/>
              <a:ext cx="385200" cy="273600"/>
            </a:xfrm>
            <a:prstGeom prst="leftArrow">
              <a:avLst/>
            </a:prstGeom>
            <a:solidFill>
              <a:srgbClr val="B20000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A4C527A-EDE7-D909-D0FB-14ED4FD55035}"/>
              </a:ext>
            </a:extLst>
          </p:cNvPr>
          <p:cNvGrpSpPr/>
          <p:nvPr/>
        </p:nvGrpSpPr>
        <p:grpSpPr>
          <a:xfrm>
            <a:off x="4343400" y="3650745"/>
            <a:ext cx="2971800" cy="2031783"/>
            <a:chOff x="4343400" y="3650745"/>
            <a:chExt cx="2971800" cy="2031783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92E1C557-01F6-FAD9-A13E-CCD36E5724BE}"/>
                </a:ext>
              </a:extLst>
            </p:cNvPr>
            <p:cNvSpPr/>
            <p:nvPr/>
          </p:nvSpPr>
          <p:spPr>
            <a:xfrm>
              <a:off x="4343400" y="4082328"/>
              <a:ext cx="2971800" cy="1600200"/>
            </a:xfrm>
            <a:prstGeom prst="roundRect">
              <a:avLst/>
            </a:prstGeom>
            <a:solidFill>
              <a:srgbClr val="FCF2F2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DATABASE</a:t>
              </a: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MySQL</a:t>
              </a:r>
              <a:endParaRPr lang="en-IN" sz="16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IN" sz="1600" dirty="0">
                  <a:solidFill>
                    <a:schemeClr val="bg1">
                      <a:lumMod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Persistent application data</a:t>
              </a:r>
            </a:p>
          </p:txBody>
        </p:sp>
        <p:sp>
          <p:nvSpPr>
            <p:cNvPr id="22" name="Arrow: Down 21">
              <a:extLst>
                <a:ext uri="{FF2B5EF4-FFF2-40B4-BE49-F238E27FC236}">
                  <a16:creationId xmlns:a16="http://schemas.microsoft.com/office/drawing/2014/main" id="{59804219-5FAA-EF6F-1D6E-7B52D44E64F0}"/>
                </a:ext>
              </a:extLst>
            </p:cNvPr>
            <p:cNvSpPr/>
            <p:nvPr/>
          </p:nvSpPr>
          <p:spPr>
            <a:xfrm>
              <a:off x="5637276" y="3650745"/>
              <a:ext cx="384048" cy="548640"/>
            </a:xfrm>
            <a:prstGeom prst="downArrow">
              <a:avLst/>
            </a:prstGeom>
            <a:solidFill>
              <a:srgbClr val="B20000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82456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BBA186FF-4528-D6A9-3934-3BF60A582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>
            <a:extLst>
              <a:ext uri="{FF2B5EF4-FFF2-40B4-BE49-F238E27FC236}">
                <a16:creationId xmlns:a16="http://schemas.microsoft.com/office/drawing/2014/main" id="{F213692E-954E-FB80-C1EB-62897122E3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613031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3.3.1 About Front-End</a:t>
            </a:r>
            <a:endParaRPr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9278962-624C-ECBE-D9AA-C718B0D12A33}"/>
              </a:ext>
            </a:extLst>
          </p:cNvPr>
          <p:cNvGrpSpPr/>
          <p:nvPr/>
        </p:nvGrpSpPr>
        <p:grpSpPr>
          <a:xfrm>
            <a:off x="993058" y="1820264"/>
            <a:ext cx="10264680" cy="3592418"/>
            <a:chOff x="993058" y="1810432"/>
            <a:chExt cx="10264680" cy="3592418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ED18840-28B5-8DD3-3460-085622AD0E96}"/>
                </a:ext>
              </a:extLst>
            </p:cNvPr>
            <p:cNvSpPr/>
            <p:nvPr/>
          </p:nvSpPr>
          <p:spPr>
            <a:xfrm>
              <a:off x="2072590" y="1810432"/>
              <a:ext cx="8046720" cy="960120"/>
            </a:xfrm>
            <a:prstGeom prst="roundRect">
              <a:avLst/>
            </a:prstGeom>
            <a:solidFill>
              <a:srgbClr val="B20000"/>
            </a:solidFill>
            <a:ln>
              <a:solidFill>
                <a:srgbClr val="B2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REACT.JS + TYPESCRIPT</a:t>
              </a:r>
            </a:p>
            <a:p>
              <a:pPr algn="ctr"/>
              <a: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Component-based • Type-safe • Maintainable Front-End Architecture</a:t>
              </a:r>
              <a:endPara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5C4B218-8F3F-7A3A-48A1-511B6215C6AA}"/>
                </a:ext>
              </a:extLst>
            </p:cNvPr>
            <p:cNvSpPr/>
            <p:nvPr/>
          </p:nvSpPr>
          <p:spPr>
            <a:xfrm>
              <a:off x="993058" y="3043304"/>
              <a:ext cx="3246120" cy="1078992"/>
            </a:xfrm>
            <a:prstGeom prst="roundRect">
              <a:avLst/>
            </a:prstGeom>
            <a:solidFill>
              <a:srgbClr val="FCF2F2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VITE</a:t>
              </a: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Fast development server, bundling</a:t>
              </a:r>
              <a:b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&amp; Hot Module Replacement</a:t>
              </a:r>
              <a:endParaRPr lang="en-IN" sz="1600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159C7A3-B248-C9BB-6B41-4B44B194DD68}"/>
                </a:ext>
              </a:extLst>
            </p:cNvPr>
            <p:cNvSpPr/>
            <p:nvPr/>
          </p:nvSpPr>
          <p:spPr>
            <a:xfrm>
              <a:off x="4472890" y="3043304"/>
              <a:ext cx="3246120" cy="1078992"/>
            </a:xfrm>
            <a:prstGeom prst="roundRect">
              <a:avLst/>
            </a:prstGeom>
            <a:solidFill>
              <a:srgbClr val="FCF2F2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TAILWIND CSS</a:t>
              </a: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Utility-first styling for a clean,</a:t>
              </a:r>
              <a:b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responsive dark-themed interface</a:t>
              </a:r>
              <a:endParaRPr lang="en-IN" sz="1600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9BB0579-7D1B-DFFF-51DC-01EF9AD7CFD1}"/>
                </a:ext>
              </a:extLst>
            </p:cNvPr>
            <p:cNvSpPr/>
            <p:nvPr/>
          </p:nvSpPr>
          <p:spPr>
            <a:xfrm>
              <a:off x="7952822" y="3043304"/>
              <a:ext cx="3246120" cy="1078992"/>
            </a:xfrm>
            <a:prstGeom prst="roundRect">
              <a:avLst/>
            </a:prstGeom>
            <a:solidFill>
              <a:srgbClr val="FCF2F2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ZUSTAND</a:t>
              </a: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Lightweight state management</a:t>
              </a:r>
              <a:b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for user &amp; admin authentication</a:t>
              </a:r>
              <a:endParaRPr lang="en-IN" sz="1600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72FDD94-23A0-4561-03CB-D4331ECE5013}"/>
                </a:ext>
              </a:extLst>
            </p:cNvPr>
            <p:cNvSpPr/>
            <p:nvPr/>
          </p:nvSpPr>
          <p:spPr>
            <a:xfrm>
              <a:off x="993058" y="4323858"/>
              <a:ext cx="3246120" cy="1078992"/>
            </a:xfrm>
            <a:prstGeom prst="roundRect">
              <a:avLst/>
            </a:prstGeom>
            <a:solidFill>
              <a:srgbClr val="FCF2F2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VIDEO.JS</a:t>
              </a: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HTML5 video playback with</a:t>
              </a:r>
              <a:b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adaptive HLS streaming</a:t>
              </a:r>
              <a:endParaRPr lang="en-IN" sz="1600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37C6A1B-22A5-7C8A-426D-3DD2B44019AC}"/>
                </a:ext>
              </a:extLst>
            </p:cNvPr>
            <p:cNvSpPr/>
            <p:nvPr/>
          </p:nvSpPr>
          <p:spPr>
            <a:xfrm>
              <a:off x="4472890" y="4323858"/>
              <a:ext cx="6784848" cy="1078992"/>
            </a:xfrm>
            <a:prstGeom prst="roundRect">
              <a:avLst/>
            </a:prstGeom>
            <a:solidFill>
              <a:srgbClr val="FCF2F2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AXIOS + REACT ROUTER DOM</a:t>
              </a:r>
              <a:endParaRPr lang="en-IN" sz="1600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Axios → REST API communication • Router DOM → client-side navigation</a:t>
              </a:r>
              <a:endParaRPr lang="en-IN" sz="1600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401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3D667B00-1355-8D2C-9BB3-BB0E35D07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>
            <a:extLst>
              <a:ext uri="{FF2B5EF4-FFF2-40B4-BE49-F238E27FC236}">
                <a16:creationId xmlns:a16="http://schemas.microsoft.com/office/drawing/2014/main" id="{DB127F22-83D5-B240-7F50-734163E9BE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613031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3.3.2 About Back-End</a:t>
            </a:r>
            <a:endParaRPr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293D55A-C0DA-CF53-18B8-AB9D7CCFB33E}"/>
              </a:ext>
            </a:extLst>
          </p:cNvPr>
          <p:cNvGrpSpPr/>
          <p:nvPr/>
        </p:nvGrpSpPr>
        <p:grpSpPr>
          <a:xfrm>
            <a:off x="845575" y="1810432"/>
            <a:ext cx="10564661" cy="3427826"/>
            <a:chOff x="845575" y="1810432"/>
            <a:chExt cx="10564661" cy="342782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7E25103-2F29-63AC-C9B1-39F0B91D4FB9}"/>
                </a:ext>
              </a:extLst>
            </p:cNvPr>
            <p:cNvSpPr/>
            <p:nvPr/>
          </p:nvSpPr>
          <p:spPr>
            <a:xfrm>
              <a:off x="2072590" y="1810432"/>
              <a:ext cx="8046720" cy="960120"/>
            </a:xfrm>
            <a:prstGeom prst="roundRect">
              <a:avLst/>
            </a:prstGeom>
            <a:solidFill>
              <a:srgbClr val="B20000"/>
            </a:solidFill>
            <a:ln>
              <a:solidFill>
                <a:srgbClr val="B2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JAVA (JDK 21) + SPRING BOOT 3.5.7</a:t>
              </a:r>
            </a:p>
            <a:p>
              <a:pPr algn="ctr"/>
              <a: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Layered, secure and API-driven back-end architecture</a:t>
              </a:r>
              <a:endPara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FA7F900-16FB-3556-DF0B-099C5E7E7A89}"/>
                </a:ext>
              </a:extLst>
            </p:cNvPr>
            <p:cNvSpPr/>
            <p:nvPr/>
          </p:nvSpPr>
          <p:spPr>
            <a:xfrm>
              <a:off x="993058" y="3043304"/>
              <a:ext cx="3246120" cy="1078992"/>
            </a:xfrm>
            <a:prstGeom prst="roundRect">
              <a:avLst/>
            </a:prstGeom>
            <a:solidFill>
              <a:srgbClr val="FCF2F2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35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LAYERED ARCHITECTURE</a:t>
              </a:r>
            </a:p>
            <a:p>
              <a:pPr algn="ctr"/>
              <a:r>
                <a:rPr lang="en-IN" sz="1350" b="1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Controllers → Services</a:t>
              </a:r>
              <a:br>
                <a:rPr lang="en-IN" sz="135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350" b="1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Repositories</a:t>
              </a:r>
              <a:br>
                <a:rPr lang="en-IN" sz="135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35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DTOs • Entities</a:t>
              </a:r>
            </a:p>
            <a:p>
              <a:pPr algn="ctr"/>
              <a:r>
                <a:rPr lang="en-IN" sz="135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Separation of responsibilities</a:t>
              </a:r>
              <a:endParaRPr lang="en-IN" sz="1350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B9DF146-F2CC-13FD-DE34-880DBEC845F8}"/>
                </a:ext>
              </a:extLst>
            </p:cNvPr>
            <p:cNvSpPr/>
            <p:nvPr/>
          </p:nvSpPr>
          <p:spPr>
            <a:xfrm>
              <a:off x="4472890" y="3043304"/>
              <a:ext cx="3246120" cy="1078992"/>
            </a:xfrm>
            <a:prstGeom prst="roundRect">
              <a:avLst/>
            </a:prstGeom>
            <a:solidFill>
              <a:srgbClr val="FCF2F2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SECURITY &amp; AUTHENTICATION</a:t>
              </a:r>
            </a:p>
            <a:p>
              <a:pPr algn="ctr"/>
              <a:r>
                <a:rPr lang="en-IN" b="1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Spring Security + JWT</a:t>
              </a:r>
              <a:b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Refresh-token rotation</a:t>
              </a:r>
              <a:b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Google OAuth2</a:t>
              </a: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Secure stateless authentication</a:t>
              </a:r>
              <a:endParaRPr lang="en-IN" sz="1600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EFE7FD3-06AB-2B50-AFD2-0C8D222B1737}"/>
                </a:ext>
              </a:extLst>
            </p:cNvPr>
            <p:cNvSpPr/>
            <p:nvPr/>
          </p:nvSpPr>
          <p:spPr>
            <a:xfrm>
              <a:off x="7952822" y="3043304"/>
              <a:ext cx="3246120" cy="1078992"/>
            </a:xfrm>
            <a:prstGeom prst="roundRect">
              <a:avLst/>
            </a:prstGeom>
            <a:solidFill>
              <a:srgbClr val="FCF2F2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VIDEO PROCESSING</a:t>
              </a:r>
            </a:p>
            <a:p>
              <a:pPr algn="ctr"/>
              <a:r>
                <a:rPr lang="en-IN" b="1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FFmpeg → HLS</a:t>
              </a:r>
              <a:b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.m3u8 master playlist .</a:t>
              </a:r>
              <a:r>
                <a:rPr lang="en-IN" dirty="0" err="1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ts</a:t>
              </a:r>
              <a: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video segments</a:t>
              </a: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Adaptive streaming preparation</a:t>
              </a:r>
              <a:endParaRPr lang="en-IN" sz="1600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E48015D3-17EC-ECF9-88B3-3B84896D511D}"/>
                </a:ext>
              </a:extLst>
            </p:cNvPr>
            <p:cNvSpPr/>
            <p:nvPr/>
          </p:nvSpPr>
          <p:spPr>
            <a:xfrm>
              <a:off x="845575" y="4323858"/>
              <a:ext cx="6537960" cy="914400"/>
            </a:xfrm>
            <a:prstGeom prst="roundRect">
              <a:avLst/>
            </a:prstGeom>
            <a:solidFill>
              <a:srgbClr val="FCF2F2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REST API &amp; DATABASE</a:t>
              </a:r>
              <a:endParaRPr lang="en-IN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Spring Web → REST APIs</a:t>
              </a:r>
              <a:b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Spring Data JPA → MySQL</a:t>
              </a:r>
            </a:p>
            <a:p>
              <a:pPr algn="ctr"/>
              <a: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API exposure and entity-based database operations</a:t>
              </a:r>
              <a:endParaRPr lang="en-IN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F9F0349-BEC7-AFE1-0DB6-A4384E3EC3F2}"/>
                </a:ext>
              </a:extLst>
            </p:cNvPr>
            <p:cNvSpPr/>
            <p:nvPr/>
          </p:nvSpPr>
          <p:spPr>
            <a:xfrm>
              <a:off x="7606332" y="4323858"/>
              <a:ext cx="3803904" cy="914400"/>
            </a:xfrm>
            <a:prstGeom prst="roundRect">
              <a:avLst/>
            </a:prstGeom>
            <a:solidFill>
              <a:srgbClr val="FCF2F2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SUPPORTING TOOLS</a:t>
              </a:r>
            </a:p>
            <a:p>
              <a:pPr algn="ctr"/>
              <a: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ModelMapper • Lombok</a:t>
              </a:r>
              <a:b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dirty="0" err="1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Springdoc-OpenAPI</a:t>
              </a:r>
              <a: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/ Swagger</a:t>
              </a:r>
            </a:p>
            <a:p>
              <a:pPr algn="ctr"/>
              <a: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Mapping • Boilerplate reduction • API docs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3478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4.1 Time Line Chart</a:t>
            </a:r>
            <a:endParaRPr dirty="0"/>
          </a:p>
        </p:txBody>
      </p:sp>
      <p:sp>
        <p:nvSpPr>
          <p:cNvPr id="178" name="Google Shape;178;p26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00EB1F7C-E17E-2375-9941-15BF99024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>
            <a:extLst>
              <a:ext uri="{FF2B5EF4-FFF2-40B4-BE49-F238E27FC236}">
                <a16:creationId xmlns:a16="http://schemas.microsoft.com/office/drawing/2014/main" id="{E7F0D562-D219-C559-73C2-C23BAFFD80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4.2 Data Dictionary</a:t>
            </a:r>
            <a:endParaRPr dirty="0"/>
          </a:p>
        </p:txBody>
      </p:sp>
      <p:sp>
        <p:nvSpPr>
          <p:cNvPr id="178" name="Google Shape;178;p26">
            <a:extLst>
              <a:ext uri="{FF2B5EF4-FFF2-40B4-BE49-F238E27FC236}">
                <a16:creationId xmlns:a16="http://schemas.microsoft.com/office/drawing/2014/main" id="{F76C326F-B41B-84FE-D721-74B1AFE50F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402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4.3 ER Diagram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620CC4-7C20-E998-573B-931A05495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167" y="1356867"/>
            <a:ext cx="7577667" cy="48063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4.4.1 Use Case Diagrams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BFEAF7-DC7B-3501-A536-017DF201C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078" y="1448313"/>
            <a:ext cx="8587845" cy="44307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4.4.3 Sequence Diagrams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132A7B-C941-765F-3D2A-153D35F8D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236" y="1356867"/>
            <a:ext cx="4263528" cy="478993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4.4.4 Collaboration Diagrams</a:t>
            </a:r>
            <a:endParaRPr/>
          </a:p>
        </p:txBody>
      </p:sp>
      <p:sp>
        <p:nvSpPr>
          <p:cNvPr id="213" name="Google Shape;213;p31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4.4.5 Class Diagrams</a:t>
            </a:r>
            <a:endParaRPr/>
          </a:p>
        </p:txBody>
      </p:sp>
      <p:sp>
        <p:nvSpPr>
          <p:cNvPr id="220" name="Google Shape;220;p32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4.5 Input Design</a:t>
            </a:r>
            <a:endParaRPr/>
          </a:p>
        </p:txBody>
      </p:sp>
      <p:sp>
        <p:nvSpPr>
          <p:cNvPr id="227" name="Google Shape;227;p33"/>
          <p:cNvSpPr txBox="1">
            <a:spLocks noGrp="1"/>
          </p:cNvSpPr>
          <p:nvPr>
            <p:ph type="body" idx="1"/>
          </p:nvPr>
        </p:nvSpPr>
        <p:spPr>
          <a:xfrm>
            <a:off x="415600" y="2268742"/>
            <a:ext cx="11360700" cy="38230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026" name="Picture 2" descr="PlantUML diagram">
            <a:extLst>
              <a:ext uri="{FF2B5EF4-FFF2-40B4-BE49-F238E27FC236}">
                <a16:creationId xmlns:a16="http://schemas.microsoft.com/office/drawing/2014/main" id="{67297544-235A-68A9-6EBF-D3F55CD36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27200"/>
            <a:ext cx="12192000" cy="385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4.6 Output Design</a:t>
            </a:r>
            <a:endParaRPr/>
          </a:p>
        </p:txBody>
      </p:sp>
      <p:sp>
        <p:nvSpPr>
          <p:cNvPr id="234" name="Google Shape;234;p34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5.1 System Testing</a:t>
            </a:r>
            <a:endParaRPr/>
          </a:p>
        </p:txBody>
      </p:sp>
      <p:sp>
        <p:nvSpPr>
          <p:cNvPr id="241" name="Google Shape;241;p35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6. Conclusion and Future Enhacement</a:t>
            </a:r>
            <a:endParaRPr/>
          </a:p>
        </p:txBody>
      </p:sp>
      <p:sp>
        <p:nvSpPr>
          <p:cNvPr id="248" name="Google Shape;248;p36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7. Bibliography and References</a:t>
            </a:r>
            <a:endParaRPr/>
          </a:p>
        </p:txBody>
      </p:sp>
      <p:sp>
        <p:nvSpPr>
          <p:cNvPr id="255" name="Google Shape;255;p37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3678</TotalTime>
  <Words>1367</Words>
  <Application>Microsoft Office PowerPoint</Application>
  <PresentationFormat>Widescreen</PresentationFormat>
  <Paragraphs>301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</vt:lpstr>
      <vt:lpstr>Times New Roman</vt:lpstr>
      <vt:lpstr>Office Theme</vt:lpstr>
      <vt:lpstr>PowerPoint Presentation</vt:lpstr>
      <vt:lpstr>1.1 Project Profile</vt:lpstr>
      <vt:lpstr>1.2 About Organization</vt:lpstr>
      <vt:lpstr>2.1 Problem Statement</vt:lpstr>
      <vt:lpstr>2.2 Existing System</vt:lpstr>
      <vt:lpstr>2.2.1 Drawbacks </vt:lpstr>
      <vt:lpstr>2.3 Proposed Systems</vt:lpstr>
      <vt:lpstr>2.3.1 Comparison Study</vt:lpstr>
      <vt:lpstr>2.3.2 Modules </vt:lpstr>
      <vt:lpstr>3.1 Hardware Requirements</vt:lpstr>
      <vt:lpstr>3.2 Software Requirements </vt:lpstr>
      <vt:lpstr>  3.3 Programming Environment</vt:lpstr>
      <vt:lpstr>3.3.1 About Front-End</vt:lpstr>
      <vt:lpstr>3.3.2 About Back-End</vt:lpstr>
      <vt:lpstr>4.1 Time Line Chart</vt:lpstr>
      <vt:lpstr>4.2 Data Dictionary</vt:lpstr>
      <vt:lpstr>4.3 ER Diagram</vt:lpstr>
      <vt:lpstr>4.4.1 Use Case Diagrams</vt:lpstr>
      <vt:lpstr>4.4.3 Sequence Diagrams</vt:lpstr>
      <vt:lpstr>4.4.4 Collaboration Diagrams</vt:lpstr>
      <vt:lpstr>4.4.5 Class Diagrams</vt:lpstr>
      <vt:lpstr>4.5 Input Design</vt:lpstr>
      <vt:lpstr>4.6 Output Design</vt:lpstr>
      <vt:lpstr>5.1 System Testing</vt:lpstr>
      <vt:lpstr>6. Conclusion and Future Enhacement</vt:lpstr>
      <vt:lpstr>7. Bibliography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kaneriyaneha29@outlook.com</cp:lastModifiedBy>
  <cp:revision>420</cp:revision>
  <dcterms:modified xsi:type="dcterms:W3CDTF">2026-08-19T07:46:39Z</dcterms:modified>
</cp:coreProperties>
</file>