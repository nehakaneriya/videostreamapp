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797675" cy="98726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0000"/>
    <a:srgbClr val="FCF2F2"/>
    <a:srgbClr val="EBA7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78" d="100"/>
          <a:sy n="78" d="100"/>
        </p:scale>
        <p:origin x="13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0443" y="0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659" cy="493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40" cy="44426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26068f6ec_0_0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f26068f6e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26068f6e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4" name="Google Shape;104;g3f26068f6ec_0_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26068f6ec_0_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26068f6ec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1" name="Google Shape;111;g3f26068f6ec_0_1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f26068f6ec_0_1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26068f6e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8" name="Google Shape;118;g3f26068f6ec_0_1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26068f6ec_0_1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26068f6e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4950" cy="37036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5" name="Google Shape;125;g3f26068f6ec_0_2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3f26068f6ec_0_2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26068f6ec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2" name="Google Shape;132;g3f26068f6ec_0_2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3f26068f6ec_0_2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26068f6ec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9" name="Google Shape;139;g3f26068f6ec_0_3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f26068f6ec_0_3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26068f6e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46" name="Google Shape;146;g3f26068f6ec_0_4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g3f26068f6ec_0_4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6068f6ec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53" name="Google Shape;153;g3f26068f6ec_0_4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f26068f6ec_0_4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6068f6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0" name="Google Shape;160;g3f26068f6ec_0_5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f26068f6ec_0_5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26068f6e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7" name="Google Shape;167;g3f26068f6ec_0_5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g3f26068f6ec_0_5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26068f6ec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74" name="Google Shape;174;g3f26068f6ec_0_6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f26068f6ec_0_6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26068f6ec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1" name="Google Shape;181;g3f26068f6ec_0_7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26068f6ec_0_7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26068f6e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88" name="Google Shape;188;g3f26068f6ec_0_7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f26068f6ec_0_7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26068f6e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3f26068f6ec_0_8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26068f6ec_0_8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26068f6ec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2" name="Google Shape;202;g3f26068f6ec_0_8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26068f6ec_0_8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6068f6ec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9" name="Google Shape;209;g3f26068f6ec_0_9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f26068f6ec_0_9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26068f6e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16" name="Google Shape;216;g3f26068f6ec_0_10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g3f26068f6ec_0_10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26068f6e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23" name="Google Shape;223;g3f26068f6ec_0_107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g3f26068f6ec_0_107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26068f6ec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0" name="Google Shape;230;g3f26068f6ec_0_113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g3f26068f6ec_0_113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26068f6ec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7" name="Google Shape;237;g3f26068f6ec_0_119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f26068f6ec_0_119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26068f6e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44" name="Google Shape;244;g3f26068f6ec_0_125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f26068f6ec_0_125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26068f6ec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39775"/>
            <a:ext cx="6585000" cy="370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51" name="Google Shape;251;g3f26068f6ec_0_131:notes"/>
          <p:cNvSpPr txBox="1">
            <a:spLocks noGrp="1"/>
          </p:cNvSpPr>
          <p:nvPr>
            <p:ph type="body" idx="1"/>
          </p:nvPr>
        </p:nvSpPr>
        <p:spPr>
          <a:xfrm>
            <a:off x="679768" y="4689515"/>
            <a:ext cx="5438100" cy="444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f26068f6ec_0_131:notes"/>
          <p:cNvSpPr txBox="1">
            <a:spLocks noGrp="1"/>
          </p:cNvSpPr>
          <p:nvPr>
            <p:ph type="sldNum" idx="12"/>
          </p:nvPr>
        </p:nvSpPr>
        <p:spPr>
          <a:xfrm>
            <a:off x="3850443" y="9377316"/>
            <a:ext cx="2945700" cy="4935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24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-2"/>
            <a:ext cx="12191996" cy="559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609600" y="1732549"/>
            <a:ext cx="10972800" cy="43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8588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197600" y="1858974"/>
            <a:ext cx="53847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609600" y="1876926"/>
            <a:ext cx="5386800" cy="42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93368" y="1911350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4766725" y="273050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2"/>
          </p:nvPr>
        </p:nvSpPr>
        <p:spPr>
          <a:xfrm>
            <a:off x="609600" y="1913024"/>
            <a:ext cx="40110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" y="6203567"/>
            <a:ext cx="12191996" cy="69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27000" y="6356351"/>
            <a:ext cx="406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27000" y="541450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/>
        </p:nvSpPr>
        <p:spPr>
          <a:xfrm>
            <a:off x="914400" y="1120914"/>
            <a:ext cx="10363200" cy="792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15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StreamHub – Full-Stack Video Streaming Platform</a:t>
            </a:r>
            <a:endParaRPr lang="en-IN" sz="2000" b="1" dirty="0">
              <a:solidFill>
                <a:srgbClr val="C00000"/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476500" y="1754202"/>
            <a:ext cx="7239000" cy="334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by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Neha Kaneriya 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</a:t>
            </a:r>
            <a:r>
              <a:rPr lang="en-IN" sz="20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No.:</a:t>
            </a: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25034211020</a:t>
            </a:r>
          </a:p>
          <a:p>
            <a:pPr lvl="0" algn="ctr">
              <a:spcBef>
                <a:spcPts val="8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Candidate Name: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Vidhi Kansagara </a:t>
            </a:r>
          </a:p>
          <a:p>
            <a:pPr lvl="0" algn="ctr">
              <a:spcBef>
                <a:spcPts val="600"/>
              </a:spcBef>
            </a:pPr>
            <a:r>
              <a:rPr lang="en-IN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Enrolment. No.: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25034211021</a:t>
            </a:r>
          </a:p>
          <a:p>
            <a:pPr lvl="0" algn="ctr">
              <a:spcBef>
                <a:spcPts val="600"/>
              </a:spcBef>
            </a:pP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Submitted to  </a:t>
            </a: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MCA Department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IN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 Patel Institute of Computer Studies</a:t>
            </a:r>
            <a:endParaRPr sz="200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58811" y="5386596"/>
            <a:ext cx="1951589" cy="633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76200" y="488809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/>
              <a:t>1.1 Project Profile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228600" y="1764624"/>
            <a:ext cx="11360700" cy="3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endParaRPr dirty="0"/>
          </a:p>
        </p:txBody>
      </p:sp>
      <p:graphicFrame>
        <p:nvGraphicFramePr>
          <p:cNvPr id="102" name="Table 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278113"/>
              </p:ext>
            </p:extLst>
          </p:nvPr>
        </p:nvGraphicFramePr>
        <p:xfrm>
          <a:off x="777240" y="1508760"/>
          <a:ext cx="106527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2430"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Project Profile</a:t>
                      </a:r>
                    </a:p>
                  </a:txBody>
                  <a:tcPr anchor="ctr">
                    <a:solidFill>
                      <a:srgbClr val="B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</a:rPr>
                        <a:t>Details</a:t>
                      </a:r>
                    </a:p>
                  </a:txBody>
                  <a:tcPr anchor="ctr">
                    <a:solidFill>
                      <a:srgbClr val="B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91919"/>
                          </a:solidFill>
                          <a:latin typeface="Arial"/>
                        </a:rPr>
                        <a:t>Project Title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91919"/>
                          </a:solidFill>
                          <a:latin typeface="Arial"/>
                        </a:rPr>
                        <a:t>StreamHub – Full-Stack Video Streaming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191919"/>
                          </a:solidFill>
                          <a:latin typeface="Arial"/>
                        </a:rPr>
                        <a:t>Project Type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Web-Based Full-Stack Application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Technology Stack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React.js, TypeScript, Vite, Tailwind CSS | Java, Spring Boot, Spring Security, Spring Data JPA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Database &amp; Streaming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MySQL | HTTP Live Streaming (HLS) – Adaptive Bitrate Streaming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Authentication &amp; API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JWT-Based Authentication with OAuth2 Login Support | Swagger / </a:t>
                      </a:r>
                      <a:r>
                        <a:rPr sz="1400" b="0" dirty="0" err="1">
                          <a:solidFill>
                            <a:srgbClr val="191919"/>
                          </a:solidFill>
                          <a:latin typeface="Arial"/>
                        </a:rPr>
                        <a:t>OpenAPI</a:t>
                      </a:r>
                      <a:endParaRPr sz="1400" b="0" dirty="0">
                        <a:solidFill>
                          <a:srgbClr val="191919"/>
                        </a:solidFill>
                        <a:latin typeface="Arial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Tools &amp; IDE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IntelliJ IDEA, VS Code, Postman, Maven, Git &amp; GitHub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Operating System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Windows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Project Duration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MCA Semester III (2025–2027)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Project Guide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Dr. Aruna Gujjar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Coordinator / Principal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Prof. C. D. Patel | Dr. Nirbhay Chaubey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243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91919"/>
                          </a:solidFill>
                          <a:latin typeface="Arial"/>
                        </a:rPr>
                        <a:t>Submitted By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Neha V. </a:t>
                      </a:r>
                      <a:r>
                        <a:rPr sz="1400" b="0" dirty="0" err="1">
                          <a:solidFill>
                            <a:srgbClr val="191919"/>
                          </a:solidFill>
                          <a:latin typeface="Arial"/>
                        </a:rPr>
                        <a:t>Kaneriya</a:t>
                      </a:r>
                      <a:r>
                        <a:rPr sz="1400" b="0" dirty="0">
                          <a:solidFill>
                            <a:srgbClr val="191919"/>
                          </a:solidFill>
                          <a:latin typeface="Arial"/>
                        </a:rPr>
                        <a:t> &amp; Vidhi K. Kansagara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395B462C-C25E-86B1-C717-BC80D86D3870}"/>
              </a:ext>
            </a:extLst>
          </p:cNvPr>
          <p:cNvSpPr/>
          <p:nvPr/>
        </p:nvSpPr>
        <p:spPr>
          <a:xfrm>
            <a:off x="777240" y="1900238"/>
            <a:ext cx="10637520" cy="7429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FFD7A2-B0F6-669E-F950-D8D9EC280095}"/>
              </a:ext>
            </a:extLst>
          </p:cNvPr>
          <p:cNvSpPr/>
          <p:nvPr/>
        </p:nvSpPr>
        <p:spPr>
          <a:xfrm>
            <a:off x="777240" y="2643188"/>
            <a:ext cx="10637520" cy="20271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E641B4-A12D-F0FC-6FAD-4AC4A36D0523}"/>
              </a:ext>
            </a:extLst>
          </p:cNvPr>
          <p:cNvSpPr/>
          <p:nvPr/>
        </p:nvSpPr>
        <p:spPr>
          <a:xfrm>
            <a:off x="777240" y="4670323"/>
            <a:ext cx="10659660" cy="15409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id="13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id="17" presetID="10" presetClass="entr" presetSubtype="0" fill="hold" grpId="0" nodeType="afterEffect" nodePh="1">
                                  <p:stCondLst>
                                    <p:cond delay="1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1.2 About Organization</a:t>
            </a:r>
            <a:endParaRPr dirty="0"/>
          </a:p>
        </p:txBody>
      </p:sp>
      <p:sp>
        <p:nvSpPr>
          <p:cNvPr id="108" name="Google Shape;108;p16"/>
          <p:cNvSpPr txBox="1">
            <a:spLocks noGrp="1"/>
          </p:cNvSpPr>
          <p:nvPr>
            <p:ph type="body" idx="1"/>
          </p:nvPr>
        </p:nvSpPr>
        <p:spPr>
          <a:xfrm>
            <a:off x="415600" y="1784675"/>
            <a:ext cx="11360700" cy="430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2.1 Problem Statement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4DB79B-5DF3-C51E-E5E8-885C3484D4DE}"/>
              </a:ext>
            </a:extLst>
          </p:cNvPr>
          <p:cNvSpPr/>
          <p:nvPr/>
        </p:nvSpPr>
        <p:spPr>
          <a:xfrm>
            <a:off x="511276" y="1740309"/>
            <a:ext cx="1874520" cy="347472"/>
          </a:xfrm>
          <a:prstGeom prst="roundRect">
            <a:avLst>
              <a:gd name="adj" fmla="val 28572"/>
            </a:avLst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KEY CHALLENGES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36A2A48-5211-6C44-440C-FF9F1D1369E7}"/>
              </a:ext>
            </a:extLst>
          </p:cNvPr>
          <p:cNvSpPr/>
          <p:nvPr/>
        </p:nvSpPr>
        <p:spPr>
          <a:xfrm>
            <a:off x="580204" y="2279465"/>
            <a:ext cx="118872" cy="108065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273B3-E394-D9BA-535F-51F79AB23E13}"/>
              </a:ext>
            </a:extLst>
          </p:cNvPr>
          <p:cNvSpPr txBox="1"/>
          <p:nvPr/>
        </p:nvSpPr>
        <p:spPr>
          <a:xfrm>
            <a:off x="817898" y="2131323"/>
            <a:ext cx="5278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20000"/>
                </a:solidFill>
              </a:rPr>
              <a:t>Performance</a:t>
            </a:r>
            <a:r>
              <a:rPr lang="en-IN" dirty="0"/>
              <a:t> — </a:t>
            </a:r>
            <a:r>
              <a:rPr lang="en-IN" sz="1350" dirty="0"/>
              <a:t>Raw video storage and direct playback can cause slow loading, buffering, and poor streaming performance</a:t>
            </a:r>
            <a:r>
              <a:rPr lang="en-IN" dirty="0"/>
              <a:t>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39A800-2003-1640-D6F6-9EFCFE7BCB79}"/>
              </a:ext>
            </a:extLst>
          </p:cNvPr>
          <p:cNvSpPr/>
          <p:nvPr/>
        </p:nvSpPr>
        <p:spPr>
          <a:xfrm>
            <a:off x="580204" y="2878744"/>
            <a:ext cx="118872" cy="11887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18FBA-C510-3A87-1838-470D468FFDFC}"/>
              </a:ext>
            </a:extLst>
          </p:cNvPr>
          <p:cNvSpPr txBox="1"/>
          <p:nvPr/>
        </p:nvSpPr>
        <p:spPr>
          <a:xfrm>
            <a:off x="817898" y="2733704"/>
            <a:ext cx="5278052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B20000"/>
                </a:solidFill>
              </a:rPr>
              <a:t>Network</a:t>
            </a:r>
            <a:r>
              <a:rPr lang="en-GB" sz="1600" b="1" dirty="0">
                <a:solidFill>
                  <a:srgbClr val="B20000"/>
                </a:solidFill>
              </a:rPr>
              <a:t> — </a:t>
            </a:r>
            <a:r>
              <a:rPr lang="en-GB" sz="1350" dirty="0">
                <a:solidFill>
                  <a:srgbClr val="232323"/>
                </a:solidFill>
              </a:rPr>
              <a:t>Large video files can make smooth playback difficult on slower or unstable internet connections.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289C06-E0A5-A6AF-BDC4-05D6CB187928}"/>
              </a:ext>
            </a:extLst>
          </p:cNvPr>
          <p:cNvSpPr/>
          <p:nvPr/>
        </p:nvSpPr>
        <p:spPr>
          <a:xfrm>
            <a:off x="584729" y="3445979"/>
            <a:ext cx="118872" cy="11887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406C4C-6B80-0C9F-5E97-E7477BE3CA56}"/>
              </a:ext>
            </a:extLst>
          </p:cNvPr>
          <p:cNvSpPr txBox="1"/>
          <p:nvPr/>
        </p:nvSpPr>
        <p:spPr>
          <a:xfrm>
            <a:off x="817898" y="3359168"/>
            <a:ext cx="49929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B20000"/>
                </a:solidFill>
              </a:rPr>
              <a:t>Security</a:t>
            </a:r>
            <a:r>
              <a:rPr lang="en-GB" sz="1600" b="1" dirty="0">
                <a:solidFill>
                  <a:srgbClr val="B20000"/>
                </a:solidFill>
              </a:rPr>
              <a:t> — </a:t>
            </a:r>
            <a:r>
              <a:rPr lang="en-GB" sz="1350" dirty="0">
                <a:solidFill>
                  <a:srgbClr val="232323"/>
                </a:solidFill>
              </a:rPr>
              <a:t>Basic hosting solutions may lack secure authentication and proper user management.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F5EB541-0FB1-6F20-D72E-C1CB08AFFE41}"/>
              </a:ext>
            </a:extLst>
          </p:cNvPr>
          <p:cNvSpPr/>
          <p:nvPr/>
        </p:nvSpPr>
        <p:spPr>
          <a:xfrm>
            <a:off x="6194152" y="2246931"/>
            <a:ext cx="118872" cy="11887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EDFB36-515B-A8BB-1D27-CFBFF31EC793}"/>
              </a:ext>
            </a:extLst>
          </p:cNvPr>
          <p:cNvSpPr txBox="1"/>
          <p:nvPr/>
        </p:nvSpPr>
        <p:spPr>
          <a:xfrm>
            <a:off x="6411227" y="2087781"/>
            <a:ext cx="5278052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B20000"/>
                </a:solidFill>
              </a:rPr>
              <a:t>Access Control </a:t>
            </a:r>
            <a:r>
              <a:rPr lang="en-GB" sz="1600" b="1" dirty="0">
                <a:solidFill>
                  <a:srgbClr val="B20000"/>
                </a:solidFill>
              </a:rPr>
              <a:t>— </a:t>
            </a:r>
            <a:r>
              <a:rPr lang="en-GB" sz="1350" dirty="0">
                <a:solidFill>
                  <a:srgbClr val="232323"/>
                </a:solidFill>
              </a:rPr>
              <a:t>Without role-based access control, separating user and administrator responsibilities becomes difficult.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D786FB-5326-D663-D46A-1C20110F2CFE}"/>
              </a:ext>
            </a:extLst>
          </p:cNvPr>
          <p:cNvSpPr/>
          <p:nvPr/>
        </p:nvSpPr>
        <p:spPr>
          <a:xfrm>
            <a:off x="6215044" y="2838972"/>
            <a:ext cx="118872" cy="11887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7D5E5-F36D-08C8-3466-C823779AE793}"/>
              </a:ext>
            </a:extLst>
          </p:cNvPr>
          <p:cNvSpPr txBox="1"/>
          <p:nvPr/>
        </p:nvSpPr>
        <p:spPr>
          <a:xfrm>
            <a:off x="6460091" y="2724464"/>
            <a:ext cx="5180324" cy="546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B20000"/>
                </a:solidFill>
              </a:rPr>
              <a:t>Management</a:t>
            </a:r>
            <a:r>
              <a:rPr lang="en-GB" sz="1600" b="1" dirty="0">
                <a:solidFill>
                  <a:srgbClr val="B20000"/>
                </a:solidFill>
              </a:rPr>
              <a:t> — </a:t>
            </a:r>
            <a:r>
              <a:rPr lang="en-GB" sz="1350" dirty="0">
                <a:solidFill>
                  <a:srgbClr val="232323"/>
                </a:solidFill>
              </a:rPr>
              <a:t>Video uploads, user feedback, and administrative activities can become complex and unorganized.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C8BEB91-88A9-1F32-F02E-1DC61856FD91}"/>
              </a:ext>
            </a:extLst>
          </p:cNvPr>
          <p:cNvSpPr/>
          <p:nvPr/>
        </p:nvSpPr>
        <p:spPr>
          <a:xfrm>
            <a:off x="6233924" y="3445979"/>
            <a:ext cx="118872" cy="118872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EEF18E-8C0D-9955-5D85-67005D6C337E}"/>
              </a:ext>
            </a:extLst>
          </p:cNvPr>
          <p:cNvSpPr txBox="1"/>
          <p:nvPr/>
        </p:nvSpPr>
        <p:spPr>
          <a:xfrm>
            <a:off x="6460091" y="3359168"/>
            <a:ext cx="51803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B20000"/>
                </a:solidFill>
              </a:rPr>
              <a:t>Customization</a:t>
            </a:r>
            <a:r>
              <a:rPr lang="en-GB" sz="1600" b="1" dirty="0">
                <a:solidFill>
                  <a:srgbClr val="B20000"/>
                </a:solidFill>
              </a:rPr>
              <a:t> — </a:t>
            </a:r>
            <a:r>
              <a:rPr lang="en-GB" sz="1350" dirty="0">
                <a:solidFill>
                  <a:srgbClr val="232323"/>
                </a:solidFill>
              </a:rPr>
              <a:t>Organizations may require a controlled platform with their own users, content, and access policies</a:t>
            </a:r>
            <a:r>
              <a:rPr lang="en-GB" dirty="0">
                <a:solidFill>
                  <a:srgbClr val="232323"/>
                </a:solidFill>
              </a:rPr>
              <a:t>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A73ADB3-5116-C7F4-5267-958E9FA1D0B1}"/>
              </a:ext>
            </a:extLst>
          </p:cNvPr>
          <p:cNvSpPr/>
          <p:nvPr/>
        </p:nvSpPr>
        <p:spPr>
          <a:xfrm>
            <a:off x="511276" y="4181214"/>
            <a:ext cx="1945801" cy="349200"/>
          </a:xfrm>
          <a:prstGeom prst="roundRect">
            <a:avLst>
              <a:gd name="adj" fmla="val 29786"/>
            </a:avLst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NEED FOR SYSTEM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94EAAD0-047E-D6DF-93BF-27254D64FB9B}"/>
              </a:ext>
            </a:extLst>
          </p:cNvPr>
          <p:cNvSpPr/>
          <p:nvPr/>
        </p:nvSpPr>
        <p:spPr>
          <a:xfrm>
            <a:off x="639640" y="4739148"/>
            <a:ext cx="10424160" cy="914400"/>
          </a:xfrm>
          <a:prstGeom prst="roundRect">
            <a:avLst>
              <a:gd name="adj" fmla="val 25269"/>
            </a:avLst>
          </a:prstGeom>
          <a:solidFill>
            <a:srgbClr val="FCF2F2"/>
          </a:solidFill>
          <a:ln w="12700"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183600" bIns="90000"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 secure and well-structured full-stack video streaming platform is required to provide </a:t>
            </a:r>
            <a:r>
              <a:rPr lang="en-IN" b="1" dirty="0">
                <a:solidFill>
                  <a:schemeClr val="tx1"/>
                </a:solidFill>
              </a:rPr>
              <a:t>efficient video uploading, HLS-based adaptive streaming, secure authentication, role-based access control, and centralized administrative management</a:t>
            </a:r>
            <a:r>
              <a:rPr lang="en-IN" dirty="0">
                <a:solidFill>
                  <a:schemeClr val="tx1"/>
                </a:solidFill>
              </a:rPr>
              <a:t> within a single customizable system.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8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7" grpId="0" animBg="1"/>
      <p:bldP spid="18" grpId="0"/>
      <p:bldP spid="21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 Existing System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D854B9B-761F-F723-523C-F4E447B157CA}"/>
              </a:ext>
            </a:extLst>
          </p:cNvPr>
          <p:cNvSpPr/>
          <p:nvPr/>
        </p:nvSpPr>
        <p:spPr>
          <a:xfrm>
            <a:off x="663191" y="1789136"/>
            <a:ext cx="2170444" cy="347472"/>
          </a:xfrm>
          <a:prstGeom prst="roundRect">
            <a:avLst>
              <a:gd name="adj" fmla="val 26101"/>
            </a:avLst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EXISTING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5E1CD2-939D-9E1F-FAA6-2E9E75CCDA1A}"/>
              </a:ext>
            </a:extLst>
          </p:cNvPr>
          <p:cNvSpPr txBox="1"/>
          <p:nvPr/>
        </p:nvSpPr>
        <p:spPr>
          <a:xfrm>
            <a:off x="663191" y="2231869"/>
            <a:ext cx="10241280" cy="594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Before StreamHub, small-scale or self-hosted video-sharing systems commonly relied on </a:t>
            </a:r>
            <a:r>
              <a:rPr lang="en-IN" b="1" dirty="0">
                <a:solidFill>
                  <a:srgbClr val="B20000"/>
                </a:solidFill>
              </a:rPr>
              <a:t>basic file storage and direct playback </a:t>
            </a:r>
            <a:r>
              <a:rPr lang="en-IN" dirty="0"/>
              <a:t>for delivering video content.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0D6EE-C52A-E47F-9F0D-7313E904AD90}"/>
              </a:ext>
            </a:extLst>
          </p:cNvPr>
          <p:cNvSpPr txBox="1"/>
          <p:nvPr/>
        </p:nvSpPr>
        <p:spPr>
          <a:xfrm>
            <a:off x="663191" y="28262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B20000"/>
                </a:solidFill>
              </a:rPr>
              <a:t>Basic Workflow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A9617C-8854-C89C-6CB1-DF684E9D7B20}"/>
              </a:ext>
            </a:extLst>
          </p:cNvPr>
          <p:cNvSpPr/>
          <p:nvPr/>
        </p:nvSpPr>
        <p:spPr>
          <a:xfrm>
            <a:off x="663191" y="3239514"/>
            <a:ext cx="1828800" cy="722701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</a:rPr>
              <a:t>User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Upload / Request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C8393D0-7DC5-639A-E73C-C8FB95F2F5F1}"/>
              </a:ext>
            </a:extLst>
          </p:cNvPr>
          <p:cNvSpPr/>
          <p:nvPr/>
        </p:nvSpPr>
        <p:spPr>
          <a:xfrm>
            <a:off x="3021992" y="3239513"/>
            <a:ext cx="1828800" cy="722701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</a:rPr>
              <a:t>Server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File Storage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D00F95-04F4-801F-86DD-06447AEF1FBF}"/>
              </a:ext>
            </a:extLst>
          </p:cNvPr>
          <p:cNvSpPr/>
          <p:nvPr/>
        </p:nvSpPr>
        <p:spPr>
          <a:xfrm>
            <a:off x="5371790" y="3239513"/>
            <a:ext cx="1828800" cy="722701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</a:rPr>
              <a:t>Video File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Complete 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6F1795E-B08A-D202-EA14-AD932AE9FF29}"/>
              </a:ext>
            </a:extLst>
          </p:cNvPr>
          <p:cNvSpPr/>
          <p:nvPr/>
        </p:nvSpPr>
        <p:spPr>
          <a:xfrm>
            <a:off x="7721588" y="3239513"/>
            <a:ext cx="1828800" cy="722701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</a:rPr>
              <a:t>Web Player 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Direct Playback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4F20E7B-0783-142F-6E5F-B19E46E92DCE}"/>
              </a:ext>
            </a:extLst>
          </p:cNvPr>
          <p:cNvSpPr/>
          <p:nvPr/>
        </p:nvSpPr>
        <p:spPr>
          <a:xfrm>
            <a:off x="10071386" y="3232294"/>
            <a:ext cx="1828800" cy="722701"/>
          </a:xfrm>
          <a:prstGeom prst="roundRect">
            <a:avLst/>
          </a:prstGeom>
          <a:solidFill>
            <a:srgbClr val="FCF2F2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rgbClr val="B20000"/>
                </a:solidFill>
              </a:rPr>
              <a:t>User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Watch video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EA6C08E-132F-E4CB-8DA2-B7EB1BAD95C7}"/>
              </a:ext>
            </a:extLst>
          </p:cNvPr>
          <p:cNvSpPr/>
          <p:nvPr/>
        </p:nvSpPr>
        <p:spPr>
          <a:xfrm>
            <a:off x="2500994" y="3451888"/>
            <a:ext cx="443383" cy="297950"/>
          </a:xfrm>
          <a:prstGeom prst="rightArrow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528C030-626A-B7E6-AD73-0F714265D461}"/>
              </a:ext>
            </a:extLst>
          </p:cNvPr>
          <p:cNvSpPr/>
          <p:nvPr/>
        </p:nvSpPr>
        <p:spPr>
          <a:xfrm>
            <a:off x="4850792" y="3451888"/>
            <a:ext cx="443383" cy="297950"/>
          </a:xfrm>
          <a:prstGeom prst="rightArrow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F7C08056-1A3C-6B59-28CA-13AD05EF7737}"/>
              </a:ext>
            </a:extLst>
          </p:cNvPr>
          <p:cNvSpPr/>
          <p:nvPr/>
        </p:nvSpPr>
        <p:spPr>
          <a:xfrm>
            <a:off x="7200590" y="3444670"/>
            <a:ext cx="443383" cy="297950"/>
          </a:xfrm>
          <a:prstGeom prst="rightArrow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C1E40A4-47DA-70EE-5656-0D552E24BD40}"/>
              </a:ext>
            </a:extLst>
          </p:cNvPr>
          <p:cNvSpPr/>
          <p:nvPr/>
        </p:nvSpPr>
        <p:spPr>
          <a:xfrm>
            <a:off x="9550388" y="3451888"/>
            <a:ext cx="443383" cy="297950"/>
          </a:xfrm>
          <a:prstGeom prst="rightArrow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822CAF9-6F66-5BDC-155F-CA7DE12C9655}"/>
              </a:ext>
            </a:extLst>
          </p:cNvPr>
          <p:cNvSpPr/>
          <p:nvPr/>
        </p:nvSpPr>
        <p:spPr>
          <a:xfrm>
            <a:off x="663190" y="4201761"/>
            <a:ext cx="4009293" cy="347472"/>
          </a:xfrm>
          <a:prstGeom prst="roundRect">
            <a:avLst>
              <a:gd name="adj" fmla="val 26101"/>
            </a:avLst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EXISTING APPROACH CHARACTERISTICS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77E4D36-EBB4-41E8-AD7F-D28F4B9BDE51}"/>
              </a:ext>
            </a:extLst>
          </p:cNvPr>
          <p:cNvSpPr/>
          <p:nvPr/>
        </p:nvSpPr>
        <p:spPr>
          <a:xfrm>
            <a:off x="781171" y="4734746"/>
            <a:ext cx="118872" cy="108065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42AE75-540A-1D74-F460-31DDFDF8E098}"/>
              </a:ext>
            </a:extLst>
          </p:cNvPr>
          <p:cNvSpPr txBox="1"/>
          <p:nvPr/>
        </p:nvSpPr>
        <p:spPr>
          <a:xfrm>
            <a:off x="1024932" y="4632927"/>
            <a:ext cx="493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20000"/>
                </a:solidFill>
              </a:rPr>
              <a:t>Storage – </a:t>
            </a:r>
            <a:r>
              <a:rPr lang="en-IN" dirty="0"/>
              <a:t>Videos are stored as complete files on the server.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0794022-3AF2-6D42-3934-1CE0F3AA5EC3}"/>
              </a:ext>
            </a:extLst>
          </p:cNvPr>
          <p:cNvSpPr/>
          <p:nvPr/>
        </p:nvSpPr>
        <p:spPr>
          <a:xfrm>
            <a:off x="779391" y="5095373"/>
            <a:ext cx="118872" cy="108065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AC42B1-0D0C-BCF8-8C5F-F64D93B8ADA4}"/>
              </a:ext>
            </a:extLst>
          </p:cNvPr>
          <p:cNvSpPr txBox="1"/>
          <p:nvPr/>
        </p:nvSpPr>
        <p:spPr>
          <a:xfrm>
            <a:off x="1024931" y="5024398"/>
            <a:ext cx="49337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20000"/>
                </a:solidFill>
              </a:rPr>
              <a:t>Quality – </a:t>
            </a:r>
            <a:r>
              <a:rPr lang="en-IN" dirty="0">
                <a:solidFill>
                  <a:schemeClr val="tx1"/>
                </a:solidFill>
              </a:rPr>
              <a:t>A single fixed quality video is typically delivered.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DD4660-6814-B350-2A12-08B47960E04D}"/>
              </a:ext>
            </a:extLst>
          </p:cNvPr>
          <p:cNvSpPr/>
          <p:nvPr/>
        </p:nvSpPr>
        <p:spPr>
          <a:xfrm>
            <a:off x="6550599" y="4734746"/>
            <a:ext cx="118872" cy="108065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C54B2A-3201-FF92-544E-4DF24E8763E0}"/>
              </a:ext>
            </a:extLst>
          </p:cNvPr>
          <p:cNvSpPr txBox="1"/>
          <p:nvPr/>
        </p:nvSpPr>
        <p:spPr>
          <a:xfrm>
            <a:off x="6736410" y="4632927"/>
            <a:ext cx="50398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20000"/>
                </a:solidFill>
              </a:rPr>
              <a:t>Delivery – </a:t>
            </a:r>
            <a:r>
              <a:rPr lang="en-IN" dirty="0"/>
              <a:t>Users access stored files through direct playback.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4AE8C90B-FED0-8436-5A08-387ABE0A5B1C}"/>
              </a:ext>
            </a:extLst>
          </p:cNvPr>
          <p:cNvSpPr/>
          <p:nvPr/>
        </p:nvSpPr>
        <p:spPr>
          <a:xfrm>
            <a:off x="6550599" y="5136272"/>
            <a:ext cx="118872" cy="108065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3A506A14-A6BF-FFE3-FF4C-49E4314017EF}"/>
              </a:ext>
            </a:extLst>
          </p:cNvPr>
          <p:cNvSpPr txBox="1"/>
          <p:nvPr/>
        </p:nvSpPr>
        <p:spPr>
          <a:xfrm>
            <a:off x="6736410" y="5020898"/>
            <a:ext cx="49337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20000"/>
                </a:solidFill>
              </a:rPr>
              <a:t>Management – </a:t>
            </a:r>
            <a:r>
              <a:rPr lang="en-IN" dirty="0"/>
              <a:t>User and content management use basic mechanisms.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1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4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5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1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5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3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6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8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15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6" grpId="0"/>
      <p:bldP spid="7" grpId="0" animBg="1"/>
      <p:bldP spid="9" grpId="0" animBg="1"/>
      <p:bldP spid="11" grpId="0" animBg="1"/>
      <p:bldP spid="13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3" grpId="0" animBg="1"/>
      <p:bldP spid="25" grpId="0"/>
      <p:bldP spid="26" grpId="0" animBg="1"/>
      <p:bldP spid="28" grpId="0"/>
      <p:bldP spid="29" grpId="0" animBg="1"/>
      <p:bldP spid="31" grpId="0"/>
      <p:bldP spid="96" grpId="0" animBg="1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2.2.1 Drawbacks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DFB746-F7D6-3C14-4FBA-F7C3D3D84DF9}"/>
              </a:ext>
            </a:extLst>
          </p:cNvPr>
          <p:cNvSpPr txBox="1"/>
          <p:nvPr/>
        </p:nvSpPr>
        <p:spPr>
          <a:xfrm>
            <a:off x="3701795" y="1273144"/>
            <a:ext cx="4788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Key limitations of the existing video-sharing approach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462A7E-B03C-5F98-795B-6462B1628D60}"/>
              </a:ext>
            </a:extLst>
          </p:cNvPr>
          <p:cNvSpPr/>
          <p:nvPr/>
        </p:nvSpPr>
        <p:spPr>
          <a:xfrm>
            <a:off x="612991" y="2036644"/>
            <a:ext cx="3246120" cy="2971800"/>
          </a:xfrm>
          <a:prstGeom prst="roundRect">
            <a:avLst/>
          </a:prstGeom>
          <a:solidFill>
            <a:schemeClr val="bg1"/>
          </a:solidFill>
          <a:ln>
            <a:solidFill>
              <a:srgbClr val="B2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900323-B387-981E-C432-8041F90E3E66}"/>
              </a:ext>
            </a:extLst>
          </p:cNvPr>
          <p:cNvSpPr/>
          <p:nvPr/>
        </p:nvSpPr>
        <p:spPr>
          <a:xfrm>
            <a:off x="612991" y="1987469"/>
            <a:ext cx="3246120" cy="91440"/>
          </a:xfrm>
          <a:prstGeom prst="rect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744687B-E2B5-6956-5D00-3C930D82995A}"/>
              </a:ext>
            </a:extLst>
          </p:cNvPr>
          <p:cNvSpPr/>
          <p:nvPr/>
        </p:nvSpPr>
        <p:spPr>
          <a:xfrm>
            <a:off x="825907" y="2191141"/>
            <a:ext cx="420624" cy="420329"/>
          </a:xfrm>
          <a:prstGeom prst="ellipse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b="1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521F56-9A4E-9CA7-2924-4B9AA29CD3B9}"/>
              </a:ext>
            </a:extLst>
          </p:cNvPr>
          <p:cNvSpPr txBox="1"/>
          <p:nvPr/>
        </p:nvSpPr>
        <p:spPr>
          <a:xfrm>
            <a:off x="1266195" y="2247416"/>
            <a:ext cx="16223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B20000"/>
                </a:solidFill>
              </a:rPr>
              <a:t>PERFORMANCE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6198193-915C-55E9-6204-6FE77A4156BC}"/>
              </a:ext>
            </a:extLst>
          </p:cNvPr>
          <p:cNvSpPr/>
          <p:nvPr/>
        </p:nvSpPr>
        <p:spPr>
          <a:xfrm>
            <a:off x="924657" y="2734624"/>
            <a:ext cx="223124" cy="174020"/>
          </a:xfrm>
          <a:prstGeom prst="rightArrow">
            <a:avLst/>
          </a:prstGeom>
          <a:solidFill>
            <a:srgbClr val="B2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DAC69-1B52-D5A1-72A8-1C98555B9D72}"/>
              </a:ext>
            </a:extLst>
          </p:cNvPr>
          <p:cNvSpPr txBox="1"/>
          <p:nvPr/>
        </p:nvSpPr>
        <p:spPr>
          <a:xfrm>
            <a:off x="1206773" y="2600867"/>
            <a:ext cx="286525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Slow Loading</a:t>
            </a:r>
          </a:p>
          <a:p>
            <a:r>
              <a:rPr lang="en-IN" sz="1100" dirty="0">
                <a:solidFill>
                  <a:schemeClr val="bg1">
                    <a:lumMod val="50000"/>
                  </a:schemeClr>
                </a:solidFill>
              </a:rPr>
              <a:t>Complete video files take longer to load.</a:t>
            </a:r>
            <a:endParaRPr lang="en-IN" sz="11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 Proposed Systems</a:t>
            </a:r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2.3.1 Comparison Study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2.3.2 Modules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3.1 Hardware Requirements</a:t>
            </a:r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3.2 Software Requirements</a:t>
            </a:r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4.1 Time Line Chart</a:t>
            </a:r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4.2 Data Dictionary</a:t>
            </a:r>
            <a:endParaRPr/>
          </a:p>
        </p:txBody>
      </p:sp>
      <p:sp>
        <p:nvSpPr>
          <p:cNvPr id="178" name="Google Shape;178;p26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4.3 ER Diagram</a:t>
            </a:r>
            <a:endParaRPr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4.4.1 Use Case Diagrams</a:t>
            </a:r>
            <a:endParaRPr/>
          </a:p>
        </p:txBody>
      </p:sp>
      <p:sp>
        <p:nvSpPr>
          <p:cNvPr id="192" name="Google Shape;192;p28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4.4.2 Use Case Diagrams</a:t>
            </a:r>
            <a:endParaRPr/>
          </a:p>
        </p:txBody>
      </p:sp>
      <p:sp>
        <p:nvSpPr>
          <p:cNvPr id="199" name="Google Shape;199;p29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4.4.3 Sequence Diagrams</a:t>
            </a:r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4.4.4 Collaboration Diagrams</a:t>
            </a:r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4.4.5 Class Diagrams</a:t>
            </a:r>
            <a:endParaRPr/>
          </a:p>
        </p:txBody>
      </p:sp>
      <p:sp>
        <p:nvSpPr>
          <p:cNvPr id="220" name="Google Shape;220;p32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4.5 Input Design</a:t>
            </a:r>
            <a:endParaRPr/>
          </a:p>
        </p:txBody>
      </p:sp>
      <p:sp>
        <p:nvSpPr>
          <p:cNvPr id="227" name="Google Shape;227;p33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4.6 Output Design</a:t>
            </a:r>
            <a:endParaRPr/>
          </a:p>
        </p:txBody>
      </p:sp>
      <p:sp>
        <p:nvSpPr>
          <p:cNvPr id="234" name="Google Shape;234;p34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5.1 System Testing</a:t>
            </a:r>
            <a:endParaRPr/>
          </a:p>
        </p:txBody>
      </p:sp>
      <p:sp>
        <p:nvSpPr>
          <p:cNvPr id="241" name="Google Shape;241;p35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6. Conclusion and Future Enhacement</a:t>
            </a:r>
            <a:endParaRPr/>
          </a:p>
        </p:txBody>
      </p:sp>
      <p:sp>
        <p:nvSpPr>
          <p:cNvPr id="248" name="Google Shape;248;p36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7. Bibliography and References</a:t>
            </a:r>
            <a:endParaRPr/>
          </a:p>
        </p:txBody>
      </p:sp>
      <p:sp>
        <p:nvSpPr>
          <p:cNvPr id="255" name="Google Shape;255;p37"/>
          <p:cNvSpPr txBox="1">
            <a:spLocks noGrp="1"/>
          </p:cNvSpPr>
          <p:nvPr>
            <p:ph type="body" idx="1"/>
          </p:nvPr>
        </p:nvSpPr>
        <p:spPr>
          <a:xfrm>
            <a:off x="415600" y="1822776"/>
            <a:ext cx="11360700" cy="42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518</Words>
  <Application>Microsoft Office PowerPoint</Application>
  <PresentationFormat>Widescreen</PresentationFormat>
  <Paragraphs>110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</vt:lpstr>
      <vt:lpstr>Times New Roman</vt:lpstr>
      <vt:lpstr>Office Theme</vt:lpstr>
      <vt:lpstr>PowerPoint Presentation</vt:lpstr>
      <vt:lpstr>1.1 Project Profile</vt:lpstr>
      <vt:lpstr>1.2 About Organization</vt:lpstr>
      <vt:lpstr>2.1 Problem Statement</vt:lpstr>
      <vt:lpstr>2.2 Existing System</vt:lpstr>
      <vt:lpstr>2.2.1 Drawbacks </vt:lpstr>
      <vt:lpstr>2.3 Proposed Systems</vt:lpstr>
      <vt:lpstr>2.3.1 Comparison Study</vt:lpstr>
      <vt:lpstr>2.3.2 Modules </vt:lpstr>
      <vt:lpstr>3.1 Hardware Requirements</vt:lpstr>
      <vt:lpstr>3.2 Software Requirements</vt:lpstr>
      <vt:lpstr>4.1 Time Line Chart</vt:lpstr>
      <vt:lpstr>4.2 Data Dictionary</vt:lpstr>
      <vt:lpstr>4.3 ER Diagram</vt:lpstr>
      <vt:lpstr>4.4.1 Use Case Diagrams</vt:lpstr>
      <vt:lpstr>4.4.2 Use Case Diagrams</vt:lpstr>
      <vt:lpstr>4.4.3 Sequence Diagrams</vt:lpstr>
      <vt:lpstr>4.4.4 Collaboration Diagrams</vt:lpstr>
      <vt:lpstr>4.4.5 Class Diagrams</vt:lpstr>
      <vt:lpstr>4.5 Input Design</vt:lpstr>
      <vt:lpstr>4.6 Output Design</vt:lpstr>
      <vt:lpstr>5.1 System Testing</vt:lpstr>
      <vt:lpstr>6. Conclusion and Future Enhacement</vt:lpstr>
      <vt:lpstr>7. Bibliography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Vidhi Kansagara</cp:lastModifiedBy>
  <cp:revision>86</cp:revision>
  <dcterms:modified xsi:type="dcterms:W3CDTF">2026-08-10T04:31:41Z</dcterms:modified>
</cp:coreProperties>
</file>